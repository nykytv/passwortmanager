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3" r:id="rId7"/>
    <p:sldId id="262" r:id="rId8"/>
    <p:sldId id="264" r:id="rId9"/>
    <p:sldId id="260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383EF9-B592-1FE5-76A2-86CEA5004E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42E6E63-5564-CF2F-4178-A68479E121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25BF71-6FDB-E1A3-AFB7-ECBB15C5E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0AC7C-E257-4BDA-94CB-CB11724BB9D3}" type="datetimeFigureOut">
              <a:rPr lang="de-DE" smtClean="0"/>
              <a:t>26.04.2025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3C0B84-F521-F0AB-CF9B-04E177346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9A0B7B3-A46F-A75C-2FB9-5107618A4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F7AF-A7B6-47B6-B915-C28F539853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9873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CE1425-768D-90EC-A1B8-B6B39588C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86275C-0BF5-C828-1724-12A216A94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C2614D-36FF-F914-8C79-F1F2C0CDE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0AC7C-E257-4BDA-94CB-CB11724BB9D3}" type="datetimeFigureOut">
              <a:rPr lang="de-DE" smtClean="0"/>
              <a:t>26.04.2025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091AFC-63AC-69BC-22BA-0FFEC90A6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806DFD4-6D28-6F46-1011-342F46DC5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F7AF-A7B6-47B6-B915-C28F539853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7198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358008-4089-9E0C-D593-FABF0F67B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C7ADB1-5E6B-1632-DC89-A74FD9DA3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E0F127-73CF-A045-E880-8A6D41E5E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0AC7C-E257-4BDA-94CB-CB11724BB9D3}" type="datetimeFigureOut">
              <a:rPr lang="de-DE" smtClean="0"/>
              <a:t>26.04.2025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75535F-831B-F40C-881B-E33CB7EC9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235F1D-94C5-C347-1A40-3C33A29A6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F7AF-A7B6-47B6-B915-C28F539853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1064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784611-7B88-C7B3-902B-36DBD6580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A1F8A5-AAD8-8EC2-D744-83BFF31935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DBFB76E-1A64-E957-F7BB-5E44C501DB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EFDBCBF-4D2D-C36C-24EE-9DE4B1EDF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0AC7C-E257-4BDA-94CB-CB11724BB9D3}" type="datetimeFigureOut">
              <a:rPr lang="de-DE" smtClean="0"/>
              <a:t>26.04.2025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80B483-860B-5697-8ACA-2D2E7EB7C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9D5C34D-905C-29C4-BB39-5525D59A1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F7AF-A7B6-47B6-B915-C28F539853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3678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787BFA-5658-DB89-9C4A-47857D6F3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579D11-A212-AA5C-3660-BB1DFA6C9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66704DC-6F0D-B515-6EA2-0F4B9633BB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C1CE38C-5451-8E71-604B-204FE9D9C4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899434A-ED53-EAE2-45A0-601499327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8A5B6A9-CA90-1EEE-5F6A-79C630B49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0AC7C-E257-4BDA-94CB-CB11724BB9D3}" type="datetimeFigureOut">
              <a:rPr lang="de-DE" smtClean="0"/>
              <a:t>26.04.2025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0CD33D3-F569-8B77-134D-AC8CF2CDE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85FBE33-B0CD-DAC0-4F26-4EBAB19AE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F7AF-A7B6-47B6-B915-C28F539853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189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E0ED9A-510F-222B-BCDA-0E84AF850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02B47F5-5241-F573-FB8E-FE9EBE1BC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0AC7C-E257-4BDA-94CB-CB11724BB9D3}" type="datetimeFigureOut">
              <a:rPr lang="de-DE" smtClean="0"/>
              <a:t>26.04.2025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31E82FD-E7C4-04AE-1615-5319360BE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74CC051-4B42-EAE1-BC87-F4630C3DD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F7AF-A7B6-47B6-B915-C28F539853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1782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406646D-903C-13A6-7209-66F744E75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0AC7C-E257-4BDA-94CB-CB11724BB9D3}" type="datetimeFigureOut">
              <a:rPr lang="de-DE" smtClean="0"/>
              <a:t>26.04.2025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601891-E96B-3F2C-330F-2D76D104B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1D647FA-D6A1-2098-8174-5C6F765AE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F7AF-A7B6-47B6-B915-C28F539853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1511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5721B3-1C3E-0AFC-4AD3-B33AE51A1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2721A4-F81C-CEA4-EF7A-090E5488D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9B10ECE-B178-BE0F-38EF-6DF8E04B1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6659115-15CE-FE2A-D365-AC32ADB6D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0AC7C-E257-4BDA-94CB-CB11724BB9D3}" type="datetimeFigureOut">
              <a:rPr lang="de-DE" smtClean="0"/>
              <a:t>26.04.2025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6EF78E6-4D25-39AC-D4C7-C74B459A0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7F7990A-1D8F-3D2F-FDED-29A082F69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F7AF-A7B6-47B6-B915-C28F539853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7375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AAD18C-169A-4F4F-5ED0-60545E8B5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F05C260-9415-A551-4788-0C95932CC2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41B0098-7F6D-442E-6F7B-4A34A32957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6B89FB2-F6E5-4AE6-DDF4-4CD38FEB2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0AC7C-E257-4BDA-94CB-CB11724BB9D3}" type="datetimeFigureOut">
              <a:rPr lang="de-DE" smtClean="0"/>
              <a:t>26.04.2025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BB42ACF-B5DE-6BC9-C2C9-A089289BC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05278F8-E352-D3C9-85FF-CFA690382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F7AF-A7B6-47B6-B915-C28F539853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8433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26930A-A8B5-24A0-5689-ECA38354B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72CF620-4579-A245-01B6-648A2D0A2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115471-B21A-C517-FAD1-4949A3867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0AC7C-E257-4BDA-94CB-CB11724BB9D3}" type="datetimeFigureOut">
              <a:rPr lang="de-DE" smtClean="0"/>
              <a:t>26.04.2025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84692A4-7C7E-4B16-FFD2-774C7396D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68B2FF-A9DB-EBF9-71B4-56F0070E6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F7AF-A7B6-47B6-B915-C28F539853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2072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5150900-8642-0B5A-623A-D79DCAD2B3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5A5C80-555D-A1BA-B2D4-5D685BA53D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DF9526-2C56-D3C0-9E90-C1CAEC2ED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0AC7C-E257-4BDA-94CB-CB11724BB9D3}" type="datetimeFigureOut">
              <a:rPr lang="de-DE" smtClean="0"/>
              <a:t>26.04.2025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28FC1D-BD2D-DAC3-ABE6-D563DE295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531B41-4D92-2CAF-88ED-2DCCB0CCF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F7AF-A7B6-47B6-B915-C28F539853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6636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738AE91-3C05-F39D-10B7-6FA559A6D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486CBD1-B0B2-3A31-70D5-D318237A6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366857-75EE-D512-A9E5-12BD85D925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C0AC7C-E257-4BDA-94CB-CB11724BB9D3}" type="datetimeFigureOut">
              <a:rPr lang="de-DE" smtClean="0"/>
              <a:t>26.04.2025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FBC309-EA02-7CB8-E3D2-A6E33F0DE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A0CDB90-C859-4BBF-C7DF-A3A4210F12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CAF7AF-A7B6-47B6-B915-C28F539853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3064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3" name="Rectangle 1041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CD03C67-F90E-4E42-B3B2-5DEAAD73F9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de-DE" sz="5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Passwortmanager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42E7217-A9B5-7639-EDBD-0F5C7BE95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de-DE"/>
              <a:t>In JAVA</a:t>
            </a:r>
          </a:p>
          <a:p>
            <a:r>
              <a:rPr lang="de-DE"/>
              <a:t>von Martin &amp; Niklas</a:t>
            </a:r>
          </a:p>
        </p:txBody>
      </p:sp>
      <p:sp>
        <p:nvSpPr>
          <p:cNvPr id="1055" name="Freeform: Shape 1043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56" name="Freeform: Shape 1045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8" name="Freeform: Shape 1047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50" name="Freeform: Shape 1049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2" name="Freeform: Shape 1051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026" name="Picture 2" descr="Java - Soziale Medien und Logos Symbole">
            <a:extLst>
              <a:ext uri="{FF2B5EF4-FFF2-40B4-BE49-F238E27FC236}">
                <a16:creationId xmlns:a16="http://schemas.microsoft.com/office/drawing/2014/main" id="{BDD48621-7511-C44E-CC6C-91B263343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2"/>
          <a:stretch/>
        </p:blipFill>
        <p:spPr bwMode="auto"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4" name="Freeform: Shape 1053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173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DFF170-3071-5173-9F09-40F84F104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Verwendete Technologien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FBE8B52-E3A3-85D1-350C-8B5D563DC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400" b="1" u="sng" dirty="0"/>
              <a:t>Client:</a:t>
            </a:r>
          </a:p>
          <a:p>
            <a:r>
              <a:rPr lang="de-DE" sz="2000" dirty="0"/>
              <a:t>AES-256 (für Verschlüsselung der Passwörter)</a:t>
            </a:r>
          </a:p>
          <a:p>
            <a:r>
              <a:rPr lang="de-DE" sz="2000" dirty="0"/>
              <a:t>JSON (zum Speichern der Settings)</a:t>
            </a:r>
          </a:p>
          <a:p>
            <a:r>
              <a:rPr lang="de-DE" sz="2000" dirty="0"/>
              <a:t>Swing UI Designer</a:t>
            </a:r>
          </a:p>
          <a:p>
            <a:r>
              <a:rPr lang="de-DE" sz="2000" dirty="0"/>
              <a:t>Lombok Getter/Setter</a:t>
            </a:r>
          </a:p>
          <a:p>
            <a:endParaRPr lang="de-DE" sz="2000" dirty="0"/>
          </a:p>
          <a:p>
            <a:pPr marL="0" indent="0">
              <a:buNone/>
            </a:pPr>
            <a:r>
              <a:rPr lang="de-DE" sz="2400" b="1" u="sng" dirty="0"/>
              <a:t>Server:</a:t>
            </a:r>
          </a:p>
          <a:p>
            <a:r>
              <a:rPr lang="de-DE" sz="2000" dirty="0"/>
              <a:t>MySQL Datenbank</a:t>
            </a:r>
          </a:p>
          <a:p>
            <a:r>
              <a:rPr lang="de-DE" sz="2000" dirty="0"/>
              <a:t>Docker Compose</a:t>
            </a:r>
          </a:p>
          <a:p>
            <a:r>
              <a:rPr lang="de-DE" sz="2000" dirty="0"/>
              <a:t>phpMyAdmin (optional </a:t>
            </a:r>
            <a:r>
              <a:rPr lang="de-DE" sz="2000" dirty="0">
                <a:sym typeface="Wingdings" panose="05000000000000000000" pitchFamily="2" charset="2"/>
              </a:rPr>
              <a:t> verwendet zum Debuggen</a:t>
            </a:r>
            <a:r>
              <a:rPr lang="de-DE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32948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A0D1DA-378D-202D-A0E0-57A2F7D3C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Technischer Hintergrund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873ED8-0668-62AF-967F-7D83EDF53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000" b="1" dirty="0"/>
              <a:t>Anmelde Maske:</a:t>
            </a:r>
          </a:p>
        </p:txBody>
      </p:sp>
      <p:pic>
        <p:nvPicPr>
          <p:cNvPr id="8" name="Inhaltsplatzhalter 6">
            <a:extLst>
              <a:ext uri="{FF2B5EF4-FFF2-40B4-BE49-F238E27FC236}">
                <a16:creationId xmlns:a16="http://schemas.microsoft.com/office/drawing/2014/main" id="{90AADBD4-0B5D-76CF-3B6C-1E4D6CD01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3575" y="2143863"/>
            <a:ext cx="2729652" cy="3405727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C00654F4-C22C-0574-E318-6BF8FAF95321}"/>
              </a:ext>
            </a:extLst>
          </p:cNvPr>
          <p:cNvSpPr/>
          <p:nvPr/>
        </p:nvSpPr>
        <p:spPr>
          <a:xfrm>
            <a:off x="8477250" y="4654550"/>
            <a:ext cx="635000" cy="273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14AC57B-680C-140C-3C19-47CEF706AD6D}"/>
              </a:ext>
            </a:extLst>
          </p:cNvPr>
          <p:cNvSpPr/>
          <p:nvPr/>
        </p:nvSpPr>
        <p:spPr>
          <a:xfrm>
            <a:off x="8420100" y="4960088"/>
            <a:ext cx="742949" cy="273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AD84E114-D08B-6591-398C-AFE033C665E3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6800850" y="4791075"/>
            <a:ext cx="1676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14E2C50C-4AFD-B05F-F87C-09E06ED85648}"/>
              </a:ext>
            </a:extLst>
          </p:cNvPr>
          <p:cNvCxnSpPr/>
          <p:nvPr/>
        </p:nvCxnSpPr>
        <p:spPr>
          <a:xfrm flipH="1" flipV="1">
            <a:off x="6800850" y="5093438"/>
            <a:ext cx="1619250" cy="3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183A5621-B4F1-F978-DCB6-2C867D4868F7}"/>
              </a:ext>
            </a:extLst>
          </p:cNvPr>
          <p:cNvSpPr txBox="1"/>
          <p:nvPr/>
        </p:nvSpPr>
        <p:spPr>
          <a:xfrm>
            <a:off x="5943601" y="4672709"/>
            <a:ext cx="8572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b="1" dirty="0"/>
              <a:t>Anmelden</a:t>
            </a:r>
            <a:endParaRPr lang="de-DE" sz="11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38885D9-1569-BF58-DA51-9E0E1C04FCF4}"/>
              </a:ext>
            </a:extLst>
          </p:cNvPr>
          <p:cNvSpPr txBox="1"/>
          <p:nvPr/>
        </p:nvSpPr>
        <p:spPr>
          <a:xfrm>
            <a:off x="5816600" y="4971528"/>
            <a:ext cx="9842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b="1" dirty="0"/>
              <a:t>Registrieren</a:t>
            </a:r>
          </a:p>
        </p:txBody>
      </p:sp>
    </p:spTree>
    <p:extLst>
      <p:ext uri="{BB962C8B-B14F-4D97-AF65-F5344CB8AC3E}">
        <p14:creationId xmlns:p14="http://schemas.microsoft.com/office/powerpoint/2010/main" val="1213491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236BE-5340-42D0-57D6-379B335A7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C68866-945E-E942-2163-4C4015646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Technischer Hintergrund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AEF4E8-7BDB-6C56-2CB7-358AF35A9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000" b="1" dirty="0"/>
              <a:t>Hauptfenster: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412E9BC-BB5C-5053-870C-F48350CCC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5047" y="1515977"/>
            <a:ext cx="3712634" cy="4970634"/>
          </a:xfrm>
          <a:prstGeom prst="rect">
            <a:avLst/>
          </a:prstGeom>
        </p:spPr>
      </p:pic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AE239735-4A51-75B1-8C2A-EAB34587FAFD}"/>
              </a:ext>
            </a:extLst>
          </p:cNvPr>
          <p:cNvGrpSpPr/>
          <p:nvPr/>
        </p:nvGrpSpPr>
        <p:grpSpPr>
          <a:xfrm>
            <a:off x="4977553" y="2757488"/>
            <a:ext cx="2699597" cy="277812"/>
            <a:chOff x="6349153" y="2411307"/>
            <a:chExt cx="2699597" cy="331893"/>
          </a:xfrm>
        </p:grpSpPr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6148E599-BFB3-5B7F-67C2-F7CA944B598E}"/>
                </a:ext>
              </a:extLst>
            </p:cNvPr>
            <p:cNvSpPr/>
            <p:nvPr/>
          </p:nvSpPr>
          <p:spPr>
            <a:xfrm>
              <a:off x="7124700" y="2411307"/>
              <a:ext cx="1924050" cy="331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442868B0-4560-01A6-08DB-151CDB4A983E}"/>
                </a:ext>
              </a:extLst>
            </p:cNvPr>
            <p:cNvCxnSpPr>
              <a:cxnSpLocks/>
            </p:cNvCxnSpPr>
            <p:nvPr/>
          </p:nvCxnSpPr>
          <p:spPr>
            <a:xfrm>
              <a:off x="6349153" y="2590800"/>
              <a:ext cx="77554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1787C08C-75D7-182E-A452-E7757B49BBF2}"/>
              </a:ext>
            </a:extLst>
          </p:cNvPr>
          <p:cNvGrpSpPr/>
          <p:nvPr/>
        </p:nvGrpSpPr>
        <p:grpSpPr>
          <a:xfrm>
            <a:off x="4977553" y="2446479"/>
            <a:ext cx="2699597" cy="277812"/>
            <a:chOff x="6349153" y="2411307"/>
            <a:chExt cx="2699597" cy="33189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9033A0C7-D642-3E36-7EA2-701791B9B689}"/>
                </a:ext>
              </a:extLst>
            </p:cNvPr>
            <p:cNvSpPr/>
            <p:nvPr/>
          </p:nvSpPr>
          <p:spPr>
            <a:xfrm>
              <a:off x="7124700" y="2411307"/>
              <a:ext cx="1924050" cy="331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4971A83A-05D4-F292-C1C6-592781D65503}"/>
                </a:ext>
              </a:extLst>
            </p:cNvPr>
            <p:cNvCxnSpPr>
              <a:cxnSpLocks/>
            </p:cNvCxnSpPr>
            <p:nvPr/>
          </p:nvCxnSpPr>
          <p:spPr>
            <a:xfrm>
              <a:off x="6349153" y="2590800"/>
              <a:ext cx="77554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C888E67D-DC3E-309E-4B57-5765B1561E62}"/>
              </a:ext>
            </a:extLst>
          </p:cNvPr>
          <p:cNvGrpSpPr/>
          <p:nvPr/>
        </p:nvGrpSpPr>
        <p:grpSpPr>
          <a:xfrm>
            <a:off x="4977553" y="3060983"/>
            <a:ext cx="2699597" cy="277812"/>
            <a:chOff x="6349153" y="2411307"/>
            <a:chExt cx="2699597" cy="331893"/>
          </a:xfrm>
        </p:grpSpPr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6B2A247B-52DE-98CA-EFFD-38176E664542}"/>
                </a:ext>
              </a:extLst>
            </p:cNvPr>
            <p:cNvSpPr/>
            <p:nvPr/>
          </p:nvSpPr>
          <p:spPr>
            <a:xfrm>
              <a:off x="7124700" y="2411307"/>
              <a:ext cx="1924050" cy="331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0C3FE2A6-0A4E-A4BD-B9E2-355F5D9E1ED6}"/>
                </a:ext>
              </a:extLst>
            </p:cNvPr>
            <p:cNvCxnSpPr>
              <a:cxnSpLocks/>
            </p:cNvCxnSpPr>
            <p:nvPr/>
          </p:nvCxnSpPr>
          <p:spPr>
            <a:xfrm>
              <a:off x="6349153" y="2590800"/>
              <a:ext cx="77554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feld 26">
            <a:extLst>
              <a:ext uri="{FF2B5EF4-FFF2-40B4-BE49-F238E27FC236}">
                <a16:creationId xmlns:a16="http://schemas.microsoft.com/office/drawing/2014/main" id="{05D17127-7C74-E0CC-33DA-F8B2800390A2}"/>
              </a:ext>
            </a:extLst>
          </p:cNvPr>
          <p:cNvSpPr txBox="1"/>
          <p:nvPr/>
        </p:nvSpPr>
        <p:spPr>
          <a:xfrm>
            <a:off x="3008419" y="2318913"/>
            <a:ext cx="20521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b="1" dirty="0"/>
              <a:t>Name des Eintrags </a:t>
            </a:r>
            <a:r>
              <a:rPr lang="de-DE" sz="1100" dirty="0">
                <a:sym typeface="Wingdings" panose="05000000000000000000" pitchFamily="2" charset="2"/>
              </a:rPr>
              <a:t> z.B. </a:t>
            </a:r>
          </a:p>
          <a:p>
            <a:r>
              <a:rPr lang="de-DE" sz="1100" dirty="0">
                <a:sym typeface="Wingdings" panose="05000000000000000000" pitchFamily="2" charset="2"/>
              </a:rPr>
              <a:t>Google Account</a:t>
            </a:r>
            <a:endParaRPr lang="de-DE" sz="1100" dirty="0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490C1C90-55A7-4B19-A886-6D8CBA5E20FE}"/>
              </a:ext>
            </a:extLst>
          </p:cNvPr>
          <p:cNvSpPr txBox="1"/>
          <p:nvPr/>
        </p:nvSpPr>
        <p:spPr>
          <a:xfrm>
            <a:off x="3008419" y="2705241"/>
            <a:ext cx="21024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b="1" dirty="0"/>
              <a:t>Nutzername</a:t>
            </a:r>
            <a:r>
              <a:rPr lang="de-DE" sz="1100" dirty="0"/>
              <a:t> </a:t>
            </a:r>
            <a:r>
              <a:rPr lang="de-DE" sz="1100" dirty="0">
                <a:sym typeface="Wingdings" panose="05000000000000000000" pitchFamily="2" charset="2"/>
              </a:rPr>
              <a:t>z.B. </a:t>
            </a:r>
          </a:p>
          <a:p>
            <a:r>
              <a:rPr lang="de-DE" sz="1100" dirty="0">
                <a:sym typeface="Wingdings" panose="05000000000000000000" pitchFamily="2" charset="2"/>
              </a:rPr>
              <a:t>max.mustermann@email.com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F9EAC7FD-589E-DBAD-0D11-67A92A705FEF}"/>
              </a:ext>
            </a:extLst>
          </p:cNvPr>
          <p:cNvSpPr txBox="1"/>
          <p:nvPr/>
        </p:nvSpPr>
        <p:spPr>
          <a:xfrm>
            <a:off x="3008419" y="3060133"/>
            <a:ext cx="21024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b="1" dirty="0"/>
              <a:t>Passwort</a:t>
            </a:r>
            <a:r>
              <a:rPr lang="de-DE" sz="1100" dirty="0"/>
              <a:t> </a:t>
            </a:r>
            <a:r>
              <a:rPr lang="de-DE" sz="1100" dirty="0">
                <a:sym typeface="Wingdings" panose="05000000000000000000" pitchFamily="2" charset="2"/>
              </a:rPr>
              <a:t>z.B. </a:t>
            </a:r>
          </a:p>
          <a:p>
            <a:r>
              <a:rPr lang="de-DE" sz="1100" dirty="0">
                <a:sym typeface="Wingdings" panose="05000000000000000000" pitchFamily="2" charset="2"/>
              </a:rPr>
              <a:t>max1234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3235D844-1836-39E1-7252-326073FC96EF}"/>
              </a:ext>
            </a:extLst>
          </p:cNvPr>
          <p:cNvSpPr/>
          <p:nvPr/>
        </p:nvSpPr>
        <p:spPr>
          <a:xfrm>
            <a:off x="5753100" y="3368107"/>
            <a:ext cx="533400" cy="3731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4" name="Verbinder: gewinkelt 33">
            <a:extLst>
              <a:ext uri="{FF2B5EF4-FFF2-40B4-BE49-F238E27FC236}">
                <a16:creationId xmlns:a16="http://schemas.microsoft.com/office/drawing/2014/main" id="{840FC459-2ECA-280E-4EFF-DF2AE09B8C7A}"/>
              </a:ext>
            </a:extLst>
          </p:cNvPr>
          <p:cNvCxnSpPr>
            <a:stCxn id="30" idx="1"/>
          </p:cNvCxnSpPr>
          <p:nvPr/>
        </p:nvCxnSpPr>
        <p:spPr>
          <a:xfrm rot="10800000" flipV="1">
            <a:off x="4229100" y="3554666"/>
            <a:ext cx="1524000" cy="687133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3DF263DE-56A9-9FFD-86FE-6DBB54FEF719}"/>
              </a:ext>
            </a:extLst>
          </p:cNvPr>
          <p:cNvSpPr txBox="1"/>
          <p:nvPr/>
        </p:nvSpPr>
        <p:spPr>
          <a:xfrm>
            <a:off x="2762247" y="4108776"/>
            <a:ext cx="1524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b="1" dirty="0"/>
              <a:t>Passwort generieren</a:t>
            </a:r>
            <a:endParaRPr lang="de-DE" sz="1100" dirty="0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65F1E123-D841-A3BF-C805-C3DE5659E5DD}"/>
              </a:ext>
            </a:extLst>
          </p:cNvPr>
          <p:cNvSpPr/>
          <p:nvPr/>
        </p:nvSpPr>
        <p:spPr>
          <a:xfrm>
            <a:off x="6922348" y="3367439"/>
            <a:ext cx="533400" cy="3731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8" name="Verbinder: gewinkelt 37">
            <a:extLst>
              <a:ext uri="{FF2B5EF4-FFF2-40B4-BE49-F238E27FC236}">
                <a16:creationId xmlns:a16="http://schemas.microsoft.com/office/drawing/2014/main" id="{0C79A98A-1CB1-CCE5-1DCF-C619A70D08DB}"/>
              </a:ext>
            </a:extLst>
          </p:cNvPr>
          <p:cNvCxnSpPr>
            <a:stCxn id="36" idx="2"/>
          </p:cNvCxnSpPr>
          <p:nvPr/>
        </p:nvCxnSpPr>
        <p:spPr>
          <a:xfrm rot="5400000">
            <a:off x="5217154" y="2752505"/>
            <a:ext cx="983841" cy="2959949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Textfeld 38">
            <a:extLst>
              <a:ext uri="{FF2B5EF4-FFF2-40B4-BE49-F238E27FC236}">
                <a16:creationId xmlns:a16="http://schemas.microsoft.com/office/drawing/2014/main" id="{A393AB46-661A-289D-DE8B-108792BFC456}"/>
              </a:ext>
            </a:extLst>
          </p:cNvPr>
          <p:cNvSpPr txBox="1"/>
          <p:nvPr/>
        </p:nvSpPr>
        <p:spPr>
          <a:xfrm>
            <a:off x="2762247" y="4523159"/>
            <a:ext cx="15240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b="1" dirty="0"/>
              <a:t>Eintrag zur Tabelle hinzufügen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F91FDF8E-FA3B-5B83-63F6-1789A9DDFD22}"/>
              </a:ext>
            </a:extLst>
          </p:cNvPr>
          <p:cNvSpPr/>
          <p:nvPr/>
        </p:nvSpPr>
        <p:spPr>
          <a:xfrm>
            <a:off x="8100910" y="3367439"/>
            <a:ext cx="533400" cy="3731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2" name="Verbinder: gewinkelt 41">
            <a:extLst>
              <a:ext uri="{FF2B5EF4-FFF2-40B4-BE49-F238E27FC236}">
                <a16:creationId xmlns:a16="http://schemas.microsoft.com/office/drawing/2014/main" id="{655A7CAB-F8C7-4DB5-5370-2CCDA5068410}"/>
              </a:ext>
            </a:extLst>
          </p:cNvPr>
          <p:cNvCxnSpPr>
            <a:stCxn id="40" idx="2"/>
          </p:cNvCxnSpPr>
          <p:nvPr/>
        </p:nvCxnSpPr>
        <p:spPr>
          <a:xfrm rot="5400000">
            <a:off x="5460359" y="2509298"/>
            <a:ext cx="1675991" cy="4138512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A8CDFBDF-F4FB-5185-6870-1C3667393DCA}"/>
              </a:ext>
            </a:extLst>
          </p:cNvPr>
          <p:cNvSpPr txBox="1"/>
          <p:nvPr/>
        </p:nvSpPr>
        <p:spPr>
          <a:xfrm>
            <a:off x="2762247" y="5269763"/>
            <a:ext cx="1524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b="1" dirty="0"/>
              <a:t>Speichern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B2B8115E-0953-E051-9875-D05B6E82449E}"/>
              </a:ext>
            </a:extLst>
          </p:cNvPr>
          <p:cNvSpPr/>
          <p:nvPr/>
        </p:nvSpPr>
        <p:spPr>
          <a:xfrm>
            <a:off x="8754960" y="1781555"/>
            <a:ext cx="533400" cy="3731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E8113F61-9816-8E62-E320-9BFC369EAE19}"/>
              </a:ext>
            </a:extLst>
          </p:cNvPr>
          <p:cNvCxnSpPr>
            <a:stCxn id="44" idx="3"/>
          </p:cNvCxnSpPr>
          <p:nvPr/>
        </p:nvCxnSpPr>
        <p:spPr>
          <a:xfrm>
            <a:off x="9288360" y="1968115"/>
            <a:ext cx="630340" cy="18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extfeld 46">
            <a:extLst>
              <a:ext uri="{FF2B5EF4-FFF2-40B4-BE49-F238E27FC236}">
                <a16:creationId xmlns:a16="http://schemas.microsoft.com/office/drawing/2014/main" id="{998C608F-4EC4-4354-B46A-637DF474582D}"/>
              </a:ext>
            </a:extLst>
          </p:cNvPr>
          <p:cNvSpPr txBox="1"/>
          <p:nvPr/>
        </p:nvSpPr>
        <p:spPr>
          <a:xfrm>
            <a:off x="9906210" y="1828871"/>
            <a:ext cx="2052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b="1" dirty="0"/>
              <a:t>Abmelden</a:t>
            </a:r>
            <a:endParaRPr lang="de-DE" sz="1100" dirty="0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5D5362C9-BC8C-5B4E-27BF-38A0E4D9A0A6}"/>
              </a:ext>
            </a:extLst>
          </p:cNvPr>
          <p:cNvSpPr/>
          <p:nvPr/>
        </p:nvSpPr>
        <p:spPr>
          <a:xfrm>
            <a:off x="8754960" y="2145865"/>
            <a:ext cx="533400" cy="220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DC41DFC2-515B-93CA-D780-67804947BF3B}"/>
              </a:ext>
            </a:extLst>
          </p:cNvPr>
          <p:cNvCxnSpPr>
            <a:stCxn id="48" idx="3"/>
          </p:cNvCxnSpPr>
          <p:nvPr/>
        </p:nvCxnSpPr>
        <p:spPr>
          <a:xfrm flipV="1">
            <a:off x="9288360" y="2254250"/>
            <a:ext cx="630340" cy="20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Textfeld 50">
            <a:extLst>
              <a:ext uri="{FF2B5EF4-FFF2-40B4-BE49-F238E27FC236}">
                <a16:creationId xmlns:a16="http://schemas.microsoft.com/office/drawing/2014/main" id="{9C4DE44E-8EA1-FC25-84C5-96E10F5F5C6C}"/>
              </a:ext>
            </a:extLst>
          </p:cNvPr>
          <p:cNvSpPr txBox="1"/>
          <p:nvPr/>
        </p:nvSpPr>
        <p:spPr>
          <a:xfrm>
            <a:off x="9918700" y="2109253"/>
            <a:ext cx="2052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b="1" dirty="0"/>
              <a:t>Einstellungen</a:t>
            </a:r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1103527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98F738-6748-F9A3-D910-5F118C756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Umsetzung 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endParaRPr lang="de-DE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14F278-5A46-11EE-4BA2-1C4D52255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93322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F335A-FDF6-4F22-13CA-08ED29DA5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3531C2-260F-3E4A-71D3-613883B29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Umsetzung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 Verschlüsselung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F71C22-1CEE-7C61-96C3-081EEC5F2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000" b="1" dirty="0"/>
              <a:t>Allgemein:</a:t>
            </a:r>
            <a:endParaRPr lang="de-DE" sz="2400" b="1" dirty="0"/>
          </a:p>
        </p:txBody>
      </p:sp>
    </p:spTree>
    <p:extLst>
      <p:ext uri="{BB962C8B-B14F-4D97-AF65-F5344CB8AC3E}">
        <p14:creationId xmlns:p14="http://schemas.microsoft.com/office/powerpoint/2010/main" val="2950061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07FDD-F578-96F3-717C-B2F13D303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3703A7-369E-1A90-7ABC-1FDCE42AF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Umsetzung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 Speicherung der Passwörter</a:t>
            </a:r>
            <a:endParaRPr lang="de-DE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E85B5E-D0BE-DD00-27B5-D23F7A822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2000" b="1" dirty="0"/>
              <a:t>Allgemein:</a:t>
            </a:r>
          </a:p>
          <a:p>
            <a:pPr lvl="1"/>
            <a:r>
              <a:rPr lang="de-DE" sz="1600" b="1" dirty="0"/>
              <a:t>Passwörter werden als Binär Datei abgespeichert</a:t>
            </a:r>
          </a:p>
          <a:p>
            <a:pPr lvl="1"/>
            <a:r>
              <a:rPr lang="de-DE" sz="1600" b="1" dirty="0"/>
              <a:t>Ersten 16 Byte = Salt</a:t>
            </a:r>
          </a:p>
          <a:p>
            <a:pPr lvl="1"/>
            <a:r>
              <a:rPr lang="de-DE" sz="1600" b="1" dirty="0"/>
              <a:t>Zweiten 16 Byte = IV (Initialisierungsvektor)</a:t>
            </a:r>
          </a:p>
          <a:p>
            <a:pPr lvl="1"/>
            <a:r>
              <a:rPr lang="de-DE" sz="1600" b="1" dirty="0"/>
              <a:t>Rest = Daten (Passwörter)</a:t>
            </a:r>
          </a:p>
        </p:txBody>
      </p:sp>
      <p:pic>
        <p:nvPicPr>
          <p:cNvPr id="31" name="Grafik 30" descr="Ein Bild, das Text, Screenshot, Schrift, Software enthält.&#10;&#10;KI-generierte Inhalte können fehlerhaft sein.">
            <a:extLst>
              <a:ext uri="{FF2B5EF4-FFF2-40B4-BE49-F238E27FC236}">
                <a16:creationId xmlns:a16="http://schemas.microsoft.com/office/drawing/2014/main" id="{0CF0FEA1-D368-CF83-65CD-110854CC01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812550"/>
            <a:ext cx="6745474" cy="2452900"/>
          </a:xfrm>
          <a:prstGeom prst="rect">
            <a:avLst/>
          </a:prstGeom>
        </p:spPr>
      </p:pic>
      <p:pic>
        <p:nvPicPr>
          <p:cNvPr id="35" name="Grafik 34" descr="Ein Bild, das Text, Screenshot, Software, Schrift enthält.&#10;&#10;KI-generierte Inhalte können fehlerhaft sein.">
            <a:extLst>
              <a:ext uri="{FF2B5EF4-FFF2-40B4-BE49-F238E27FC236}">
                <a16:creationId xmlns:a16="http://schemas.microsoft.com/office/drawing/2014/main" id="{CC675AC4-1CA5-8CA7-1015-F47AF16420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812550"/>
            <a:ext cx="6745474" cy="2452900"/>
          </a:xfrm>
          <a:prstGeom prst="rect">
            <a:avLst/>
          </a:prstGeom>
        </p:spPr>
      </p:pic>
      <p:pic>
        <p:nvPicPr>
          <p:cNvPr id="33" name="Grafik 32" descr="Ein Bild, das Text, Screenshot, Software, Schrift enthält.&#10;&#10;KI-generierte Inhalte können fehlerhaft sein.">
            <a:extLst>
              <a:ext uri="{FF2B5EF4-FFF2-40B4-BE49-F238E27FC236}">
                <a16:creationId xmlns:a16="http://schemas.microsoft.com/office/drawing/2014/main" id="{A8E14C6D-8DEF-1B4D-E2D9-27A6C07634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812550"/>
            <a:ext cx="6745474" cy="2452900"/>
          </a:xfrm>
          <a:prstGeom prst="rect">
            <a:avLst/>
          </a:prstGeom>
        </p:spPr>
      </p:pic>
      <p:pic>
        <p:nvPicPr>
          <p:cNvPr id="37" name="Grafik 36" descr="Ein Bild, das Text, Screenshot, Software, Computersymbol enthält.&#10;&#10;KI-generierte Inhalte können fehlerhaft sein.">
            <a:extLst>
              <a:ext uri="{FF2B5EF4-FFF2-40B4-BE49-F238E27FC236}">
                <a16:creationId xmlns:a16="http://schemas.microsoft.com/office/drawing/2014/main" id="{19336577-A2A4-1B24-6AD6-73E48FE8A3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812551"/>
            <a:ext cx="6745474" cy="245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720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2E954-15E9-E447-34AD-12C92502B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C10906-ACDD-7AFE-8BA3-325E4297E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Umsetzung 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Probleme</a:t>
            </a:r>
            <a:endParaRPr lang="de-DE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BFDCF3-FFA4-1EA1-D381-2110A1905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000" dirty="0"/>
              <a:t>Implementierung von Buttons (Bearbeiten, Kopieren, Anzeigen) in eine </a:t>
            </a:r>
            <a:r>
              <a:rPr lang="de-DE" sz="2000" dirty="0" err="1"/>
              <a:t>JTable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3903202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77BA2B-6314-C13E-8020-90F8CA35B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Lessions Learned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B24FDD-F401-C7A6-98F6-6469FF9DF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Vor dem Start überlegen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dirty="0"/>
              <a:t>Aufwändiger Umbau von Passwort-Speicherung in JSON-Datei als Klartext zu Binär Dateien</a:t>
            </a:r>
          </a:p>
        </p:txBody>
      </p:sp>
    </p:spTree>
    <p:extLst>
      <p:ext uri="{BB962C8B-B14F-4D97-AF65-F5344CB8AC3E}">
        <p14:creationId xmlns:p14="http://schemas.microsoft.com/office/powerpoint/2010/main" val="3553515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</Words>
  <Application>Microsoft Office PowerPoint</Application>
  <PresentationFormat>Breitbild</PresentationFormat>
  <Paragraphs>45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Wingdings</vt:lpstr>
      <vt:lpstr>Office</vt:lpstr>
      <vt:lpstr>Passwortmanager</vt:lpstr>
      <vt:lpstr>Verwendete Technologien</vt:lpstr>
      <vt:lpstr>Technischer Hintergrund</vt:lpstr>
      <vt:lpstr>Technischer Hintergrund</vt:lpstr>
      <vt:lpstr>Umsetzung - </vt:lpstr>
      <vt:lpstr>Umsetzung - Verschlüsselung</vt:lpstr>
      <vt:lpstr>Umsetzung - Speicherung der Passwörter</vt:lpstr>
      <vt:lpstr>Umsetzung - Probleme</vt:lpstr>
      <vt:lpstr>Lessions Learned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niklas.kieslinger@gmail.com</dc:creator>
  <cp:lastModifiedBy>niklas.kieslinger@gmail.com</cp:lastModifiedBy>
  <cp:revision>96</cp:revision>
  <dcterms:created xsi:type="dcterms:W3CDTF">2025-04-14T19:41:51Z</dcterms:created>
  <dcterms:modified xsi:type="dcterms:W3CDTF">2025-04-26T15:14:48Z</dcterms:modified>
</cp:coreProperties>
</file>