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1" r:id="rId5"/>
    <p:sldId id="265" r:id="rId6"/>
    <p:sldId id="259" r:id="rId7"/>
    <p:sldId id="266" r:id="rId8"/>
    <p:sldId id="263" r:id="rId9"/>
    <p:sldId id="267" r:id="rId10"/>
    <p:sldId id="262" r:id="rId11"/>
    <p:sldId id="264" r:id="rId12"/>
    <p:sldId id="260" r:id="rId1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654" y="13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3383EF9-B592-1FE5-76A2-86CEA5004E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42E6E63-5564-CF2F-4178-A68479E121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525BF71-6FDB-E1A3-AFB7-ECBB15C5E5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01.06.2025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A3C0B84-F521-F0AB-CF9B-04E177346B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9A0B7B3-A46F-A75C-2FB9-5107618A4C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498736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2CE1425-768D-90EC-A1B8-B6B39588C2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886275C-0BF5-C828-1724-12A216A949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CC2614D-36FF-F914-8C79-F1F2C0CDE5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01.06.2025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F091AFC-63AC-69BC-22BA-0FFEC90A60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806DFD4-6D28-6F46-1011-342F46DC56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671981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358008-4089-9E0C-D593-FABF0F67BF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CC7ADB1-5E6B-1632-DC89-A74FD9DA32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AE0F127-73CF-A045-E880-8A6D41E5E1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01.06.2025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B75535F-831B-F40C-881B-E33CB7EC90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3235F1D-94C5-C347-1A40-3C33A29A6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310640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C784611-7B88-C7B3-902B-36DBD6580A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4A1F8A5-AAD8-8EC2-D744-83BFF319351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DBFB76E-1A64-E957-F7BB-5E44C501DB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EFDBCBF-4D2D-C36C-24EE-9DE4B1EDF1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01.06.2025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780B483-860B-5697-8ACA-2D2E7EB7C2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9D5C34D-905C-29C4-BB39-5525D59A12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336782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A787BFA-5658-DB89-9C4A-47857D6F3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0579D11-A212-AA5C-3660-BB1DFA6C99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66704DC-6F0D-B515-6EA2-0F4B9633BB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4C1CE38C-5451-8E71-604B-204FE9D9C49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A899434A-ED53-EAE2-45A0-60149932745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58A5B6A9-CA90-1EEE-5F6A-79C630B491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01.06.2025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D0CD33D3-F569-8B77-134D-AC8CF2CDE9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C85FBE33-B0CD-DAC0-4F26-4EBAB19AEA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118909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E0ED9A-510F-222B-BCDA-0E84AF850F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02B47F5-5241-F573-FB8E-FE9EBE1BC0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01.06.2025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31E82FD-E7C4-04AE-1615-5319360BE9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74CC051-4B42-EAE1-BC87-F4630C3DDD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617828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C406646D-903C-13A6-7209-66F744E75D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01.06.2025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1601891-E96B-3F2C-330F-2D76D104B9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1D647FA-D6A1-2098-8174-5C6F765AE2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915116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5721B3-1C3E-0AFC-4AD3-B33AE51A1C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02721A4-F81C-CEA4-EF7A-090E5488D8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9B10ECE-B178-BE0F-38EF-6DF8E04B1B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6659115-15CE-FE2A-D365-AC32ADB6DC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01.06.2025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6EF78E6-4D25-39AC-D4C7-C74B459A09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7F7990A-1D8F-3D2F-FDED-29A082F69F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873755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AAD18C-169A-4F4F-5ED0-60545E8B5E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FF05C260-9415-A551-4788-0C95932CC20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41B0098-7F6D-442E-6F7B-4A34A32957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6B89FB2-F6E5-4AE6-DDF4-4CD38FEB2E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01.06.2025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BB42ACF-B5DE-6BC9-C2C9-A089289BC9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05278F8-E352-D3C9-85FF-CFA690382F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984337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A26930A-A8B5-24A0-5689-ECA38354B4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772CF620-4579-A245-01B6-648A2D0A2D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7115471-B21A-C517-FAD1-4949A3867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01.06.2025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84692A4-7C7E-4B16-FFD2-774C7396D9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168B2FF-A9DB-EBF9-71B4-56F0070E6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620729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B5150900-8642-0B5A-623A-D79DCAD2B3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475A5C80-555D-A1BA-B2D4-5D685BA53D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8DF9526-2C56-D3C0-9E90-C1CAEC2ED8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0AC7C-E257-4BDA-94CB-CB11724BB9D3}" type="datetimeFigureOut">
              <a:rPr lang="de-DE" smtClean="0"/>
              <a:t>01.06.2025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F28FC1D-BD2D-DAC3-ABE6-D563DE295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E531B41-4D92-2CAF-88ED-2DCCB0CCF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466367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0738AE91-3C05-F39D-10B7-6FA559A6DE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486CBD1-B0B2-3A31-70D5-D318237A67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C366857-75EE-D512-A9E5-12BD85D925B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5C0AC7C-E257-4BDA-94CB-CB11724BB9D3}" type="datetimeFigureOut">
              <a:rPr lang="de-DE" smtClean="0"/>
              <a:t>01.06.2025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AFBC309-EA02-7CB8-E3D2-A6E33F0DEAF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A0CDB90-C859-4BBF-C7DF-A3A4210F12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CAF7AF-A7B6-47B6-B915-C28F539853D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330644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53" name="Rectangle 1041">
            <a:extLst>
              <a:ext uri="{FF2B5EF4-FFF2-40B4-BE49-F238E27FC236}">
                <a16:creationId xmlns:a16="http://schemas.microsoft.com/office/drawing/2014/main" id="{362D44EE-C852-4460-B8B5-C4F2BC2051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CD03C67-F90E-4E42-B3B2-5DEAAD73F9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94716" y="739978"/>
            <a:ext cx="5334930" cy="3004145"/>
          </a:xfrm>
        </p:spPr>
        <p:txBody>
          <a:bodyPr>
            <a:normAutofit/>
          </a:bodyPr>
          <a:lstStyle/>
          <a:p>
            <a:r>
              <a:rPr lang="de-DE" sz="5100" b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Passwortmanager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42E7217-A9B5-7639-EDBD-0F5C7BE954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94715" y="3836197"/>
            <a:ext cx="5334931" cy="2189214"/>
          </a:xfrm>
        </p:spPr>
        <p:txBody>
          <a:bodyPr>
            <a:normAutofit/>
          </a:bodyPr>
          <a:lstStyle/>
          <a:p>
            <a:r>
              <a:rPr lang="de-DE"/>
              <a:t>In JAVA</a:t>
            </a:r>
          </a:p>
          <a:p>
            <a:r>
              <a:rPr lang="de-DE"/>
              <a:t>von Martin &amp; Niklas</a:t>
            </a:r>
          </a:p>
        </p:txBody>
      </p:sp>
      <p:sp>
        <p:nvSpPr>
          <p:cNvPr id="1055" name="Freeform: Shape 1043">
            <a:extLst>
              <a:ext uri="{FF2B5EF4-FFF2-40B4-BE49-F238E27FC236}">
                <a16:creationId xmlns:a16="http://schemas.microsoft.com/office/drawing/2014/main" id="{658970D8-8D1D-4B5C-894B-E871CC865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30529" y="1"/>
            <a:ext cx="1155142" cy="591009"/>
          </a:xfrm>
          <a:custGeom>
            <a:avLst/>
            <a:gdLst>
              <a:gd name="connsiteX0" fmla="*/ 1355 w 1155142"/>
              <a:gd name="connsiteY0" fmla="*/ 0 h 591009"/>
              <a:gd name="connsiteX1" fmla="*/ 1153787 w 1155142"/>
              <a:gd name="connsiteY1" fmla="*/ 0 h 591009"/>
              <a:gd name="connsiteX2" fmla="*/ 1155142 w 1155142"/>
              <a:gd name="connsiteY2" fmla="*/ 13438 h 591009"/>
              <a:gd name="connsiteX3" fmla="*/ 577571 w 1155142"/>
              <a:gd name="connsiteY3" fmla="*/ 591009 h 591009"/>
              <a:gd name="connsiteX4" fmla="*/ 0 w 1155142"/>
              <a:gd name="connsiteY4" fmla="*/ 13438 h 591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55142" h="591009">
                <a:moveTo>
                  <a:pt x="1355" y="0"/>
                </a:moveTo>
                <a:lnTo>
                  <a:pt x="1153787" y="0"/>
                </a:lnTo>
                <a:lnTo>
                  <a:pt x="1155142" y="13438"/>
                </a:lnTo>
                <a:cubicBezTo>
                  <a:pt x="1155142" y="332422"/>
                  <a:pt x="896555" y="591009"/>
                  <a:pt x="577571" y="591009"/>
                </a:cubicBezTo>
                <a:cubicBezTo>
                  <a:pt x="258587" y="591009"/>
                  <a:pt x="0" y="332422"/>
                  <a:pt x="0" y="13438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056" name="Freeform: Shape 1045">
            <a:extLst>
              <a:ext uri="{FF2B5EF4-FFF2-40B4-BE49-F238E27FC236}">
                <a16:creationId xmlns:a16="http://schemas.microsoft.com/office/drawing/2014/main" id="{F227E5B6-9132-43CA-B503-37A18562AD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349052" y="0"/>
            <a:ext cx="1737401" cy="959536"/>
          </a:xfrm>
          <a:custGeom>
            <a:avLst/>
            <a:gdLst>
              <a:gd name="connsiteX0" fmla="*/ 0 w 1737401"/>
              <a:gd name="connsiteY0" fmla="*/ 0 h 959536"/>
              <a:gd name="connsiteX1" fmla="*/ 123825 w 1737401"/>
              <a:gd name="connsiteY1" fmla="*/ 0 h 959536"/>
              <a:gd name="connsiteX2" fmla="*/ 123825 w 1737401"/>
              <a:gd name="connsiteY2" fmla="*/ 790277 h 959536"/>
              <a:gd name="connsiteX3" fmla="*/ 1490095 w 1737401"/>
              <a:gd name="connsiteY3" fmla="*/ 0 h 959536"/>
              <a:gd name="connsiteX4" fmla="*/ 1737401 w 1737401"/>
              <a:gd name="connsiteY4" fmla="*/ 0 h 959536"/>
              <a:gd name="connsiteX5" fmla="*/ 92869 w 1737401"/>
              <a:gd name="connsiteY5" fmla="*/ 951249 h 959536"/>
              <a:gd name="connsiteX6" fmla="*/ 61913 w 1737401"/>
              <a:gd name="connsiteY6" fmla="*/ 959536 h 959536"/>
              <a:gd name="connsiteX7" fmla="*/ 0 w 1737401"/>
              <a:gd name="connsiteY7" fmla="*/ 897624 h 959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737401" h="959536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48" name="Freeform: Shape 1047">
            <a:extLst>
              <a:ext uri="{FF2B5EF4-FFF2-40B4-BE49-F238E27FC236}">
                <a16:creationId xmlns:a16="http://schemas.microsoft.com/office/drawing/2014/main" id="{03C2051E-A88D-48E5-BACF-AAED178927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2916245"/>
            <a:ext cx="159741" cy="552996"/>
          </a:xfrm>
          <a:custGeom>
            <a:avLst/>
            <a:gdLst>
              <a:gd name="connsiteX0" fmla="*/ 159741 w 159741"/>
              <a:gd name="connsiteY0" fmla="*/ 0 h 552996"/>
              <a:gd name="connsiteX1" fmla="*/ 159741 w 159741"/>
              <a:gd name="connsiteY1" fmla="*/ 552996 h 552996"/>
              <a:gd name="connsiteX2" fmla="*/ 141849 w 159741"/>
              <a:gd name="connsiteY2" fmla="*/ 543285 h 552996"/>
              <a:gd name="connsiteX3" fmla="*/ 0 w 159741"/>
              <a:gd name="connsiteY3" fmla="*/ 276498 h 552996"/>
              <a:gd name="connsiteX4" fmla="*/ 141849 w 159741"/>
              <a:gd name="connsiteY4" fmla="*/ 9711 h 5529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9741" h="552996">
                <a:moveTo>
                  <a:pt x="159741" y="0"/>
                </a:moveTo>
                <a:lnTo>
                  <a:pt x="159741" y="552996"/>
                </a:lnTo>
                <a:lnTo>
                  <a:pt x="141849" y="543285"/>
                </a:lnTo>
                <a:cubicBezTo>
                  <a:pt x="56268" y="485467"/>
                  <a:pt x="0" y="387554"/>
                  <a:pt x="0" y="276498"/>
                </a:cubicBezTo>
                <a:cubicBezTo>
                  <a:pt x="0" y="165443"/>
                  <a:pt x="56268" y="67529"/>
                  <a:pt x="141849" y="9711"/>
                </a:cubicBezTo>
                <a:close/>
              </a:path>
            </a:pathLst>
          </a:custGeom>
          <a:solidFill>
            <a:schemeClr val="accent2"/>
          </a:solidFill>
          <a:ln w="1270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050" name="Freeform: Shape 1049">
            <a:extLst>
              <a:ext uri="{FF2B5EF4-FFF2-40B4-BE49-F238E27FC236}">
                <a16:creationId xmlns:a16="http://schemas.microsoft.com/office/drawing/2014/main" id="{7821A508-2985-4905-874A-527429BAAB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835649"/>
            <a:ext cx="1548180" cy="1022351"/>
          </a:xfrm>
          <a:custGeom>
            <a:avLst/>
            <a:gdLst>
              <a:gd name="connsiteX0" fmla="*/ 61913 w 1548180"/>
              <a:gd name="connsiteY0" fmla="*/ 0 h 1022351"/>
              <a:gd name="connsiteX1" fmla="*/ 1548180 w 1548180"/>
              <a:gd name="connsiteY1" fmla="*/ 0 h 1022351"/>
              <a:gd name="connsiteX2" fmla="*/ 1548180 w 1548180"/>
              <a:gd name="connsiteY2" fmla="*/ 123825 h 1022351"/>
              <a:gd name="connsiteX3" fmla="*/ 123825 w 1548180"/>
              <a:gd name="connsiteY3" fmla="*/ 123825 h 1022351"/>
              <a:gd name="connsiteX4" fmla="*/ 123825 w 1548180"/>
              <a:gd name="connsiteY4" fmla="*/ 1022351 h 1022351"/>
              <a:gd name="connsiteX5" fmla="*/ 0 w 1548180"/>
              <a:gd name="connsiteY5" fmla="*/ 1022351 h 1022351"/>
              <a:gd name="connsiteX6" fmla="*/ 0 w 1548180"/>
              <a:gd name="connsiteY6" fmla="*/ 61913 h 1022351"/>
              <a:gd name="connsiteX7" fmla="*/ 61913 w 1548180"/>
              <a:gd name="connsiteY7" fmla="*/ 0 h 10223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48180" h="1022351">
                <a:moveTo>
                  <a:pt x="61913" y="0"/>
                </a:moveTo>
                <a:lnTo>
                  <a:pt x="1548180" y="0"/>
                </a:lnTo>
                <a:lnTo>
                  <a:pt x="1548180" y="123825"/>
                </a:lnTo>
                <a:lnTo>
                  <a:pt x="123825" y="123825"/>
                </a:lnTo>
                <a:lnTo>
                  <a:pt x="123825" y="1022351"/>
                </a:lnTo>
                <a:lnTo>
                  <a:pt x="0" y="1022351"/>
                </a:ln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52" name="Freeform: Shape 1051">
            <a:extLst>
              <a:ext uri="{FF2B5EF4-FFF2-40B4-BE49-F238E27FC236}">
                <a16:creationId xmlns:a16="http://schemas.microsoft.com/office/drawing/2014/main" id="{D2929CB1-0E3C-4B2D-ADC5-0154FB33B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697761" y="5717906"/>
            <a:ext cx="1771609" cy="1140095"/>
          </a:xfrm>
          <a:custGeom>
            <a:avLst/>
            <a:gdLst>
              <a:gd name="connsiteX0" fmla="*/ 1561721 w 1771609"/>
              <a:gd name="connsiteY0" fmla="*/ 763041 h 1140095"/>
              <a:gd name="connsiteX1" fmla="*/ 1623024 w 1771609"/>
              <a:gd name="connsiteY1" fmla="*/ 792810 h 1140095"/>
              <a:gd name="connsiteX2" fmla="*/ 1711735 w 1771609"/>
              <a:gd name="connsiteY2" fmla="*/ 970132 h 1140095"/>
              <a:gd name="connsiteX3" fmla="*/ 1771609 w 1771609"/>
              <a:gd name="connsiteY3" fmla="*/ 1140095 h 1140095"/>
              <a:gd name="connsiteX4" fmla="*/ 1637225 w 1771609"/>
              <a:gd name="connsiteY4" fmla="*/ 1140095 h 1140095"/>
              <a:gd name="connsiteX5" fmla="*/ 1594820 w 1771609"/>
              <a:gd name="connsiteY5" fmla="*/ 1019711 h 1140095"/>
              <a:gd name="connsiteX6" fmla="*/ 1513200 w 1771609"/>
              <a:gd name="connsiteY6" fmla="*/ 856627 h 1140095"/>
              <a:gd name="connsiteX7" fmla="*/ 1538499 w 1771609"/>
              <a:gd name="connsiteY7" fmla="*/ 770415 h 1140095"/>
              <a:gd name="connsiteX8" fmla="*/ 1561721 w 1771609"/>
              <a:gd name="connsiteY8" fmla="*/ 763041 h 1140095"/>
              <a:gd name="connsiteX9" fmla="*/ 933455 w 1771609"/>
              <a:gd name="connsiteY9" fmla="*/ 161309 h 1140095"/>
              <a:gd name="connsiteX10" fmla="*/ 957797 w 1771609"/>
              <a:gd name="connsiteY10" fmla="*/ 167970 h 1140095"/>
              <a:gd name="connsiteX11" fmla="*/ 1286982 w 1771609"/>
              <a:gd name="connsiteY11" fmla="*/ 387616 h 1140095"/>
              <a:gd name="connsiteX12" fmla="*/ 1293725 w 1771609"/>
              <a:gd name="connsiteY12" fmla="*/ 477075 h 1140095"/>
              <a:gd name="connsiteX13" fmla="*/ 1245453 w 1771609"/>
              <a:gd name="connsiteY13" fmla="*/ 499154 h 1140095"/>
              <a:gd name="connsiteX14" fmla="*/ 1245167 w 1771609"/>
              <a:gd name="connsiteY14" fmla="*/ 499154 h 1140095"/>
              <a:gd name="connsiteX15" fmla="*/ 1203638 w 1771609"/>
              <a:gd name="connsiteY15" fmla="*/ 484104 h 1140095"/>
              <a:gd name="connsiteX16" fmla="*/ 900647 w 1771609"/>
              <a:gd name="connsiteY16" fmla="*/ 281508 h 1140095"/>
              <a:gd name="connsiteX17" fmla="*/ 872454 w 1771609"/>
              <a:gd name="connsiteY17" fmla="*/ 196164 h 1140095"/>
              <a:gd name="connsiteX18" fmla="*/ 933455 w 1771609"/>
              <a:gd name="connsiteY18" fmla="*/ 161309 h 1140095"/>
              <a:gd name="connsiteX19" fmla="*/ 256260 w 1771609"/>
              <a:gd name="connsiteY19" fmla="*/ 29 h 1140095"/>
              <a:gd name="connsiteX20" fmla="*/ 454020 w 1771609"/>
              <a:gd name="connsiteY20" fmla="*/ 13474 h 1140095"/>
              <a:gd name="connsiteX21" fmla="*/ 509236 w 1771609"/>
              <a:gd name="connsiteY21" fmla="*/ 84182 h 1140095"/>
              <a:gd name="connsiteX22" fmla="*/ 445829 w 1771609"/>
              <a:gd name="connsiteY22" fmla="*/ 139871 h 1140095"/>
              <a:gd name="connsiteX23" fmla="*/ 437447 w 1771609"/>
              <a:gd name="connsiteY23" fmla="*/ 139395 h 1140095"/>
              <a:gd name="connsiteX24" fmla="*/ 73211 w 1771609"/>
              <a:gd name="connsiteY24" fmla="*/ 137204 h 1140095"/>
              <a:gd name="connsiteX25" fmla="*/ 749 w 1771609"/>
              <a:gd name="connsiteY25" fmla="*/ 84082 h 1140095"/>
              <a:gd name="connsiteX26" fmla="*/ 53871 w 1771609"/>
              <a:gd name="connsiteY26" fmla="*/ 11621 h 1140095"/>
              <a:gd name="connsiteX27" fmla="*/ 58352 w 1771609"/>
              <a:gd name="connsiteY27" fmla="*/ 11093 h 1140095"/>
              <a:gd name="connsiteX28" fmla="*/ 256260 w 1771609"/>
              <a:gd name="connsiteY28" fmla="*/ 29 h 11400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771609" h="1140095">
                <a:moveTo>
                  <a:pt x="1561721" y="763041"/>
                </a:moveTo>
                <a:cubicBezTo>
                  <a:pt x="1585506" y="760324"/>
                  <a:pt x="1609722" y="771249"/>
                  <a:pt x="1623024" y="792810"/>
                </a:cubicBezTo>
                <a:cubicBezTo>
                  <a:pt x="1656300" y="850065"/>
                  <a:pt x="1685920" y="909291"/>
                  <a:pt x="1711735" y="970132"/>
                </a:cubicBezTo>
                <a:lnTo>
                  <a:pt x="1771609" y="1140095"/>
                </a:lnTo>
                <a:lnTo>
                  <a:pt x="1637225" y="1140095"/>
                </a:lnTo>
                <a:lnTo>
                  <a:pt x="1594820" y="1019711"/>
                </a:lnTo>
                <a:cubicBezTo>
                  <a:pt x="1571072" y="963753"/>
                  <a:pt x="1543818" y="909282"/>
                  <a:pt x="1513200" y="856627"/>
                </a:cubicBezTo>
                <a:cubicBezTo>
                  <a:pt x="1496379" y="825834"/>
                  <a:pt x="1507704" y="787236"/>
                  <a:pt x="1538499" y="770415"/>
                </a:cubicBezTo>
                <a:cubicBezTo>
                  <a:pt x="1545912" y="766367"/>
                  <a:pt x="1553792" y="763946"/>
                  <a:pt x="1561721" y="763041"/>
                </a:cubicBezTo>
                <a:close/>
                <a:moveTo>
                  <a:pt x="933455" y="161309"/>
                </a:moveTo>
                <a:cubicBezTo>
                  <a:pt x="941693" y="161855"/>
                  <a:pt x="949959" y="164025"/>
                  <a:pt x="957797" y="167970"/>
                </a:cubicBezTo>
                <a:cubicBezTo>
                  <a:pt x="1076184" y="227289"/>
                  <a:pt x="1186759" y="301068"/>
                  <a:pt x="1286982" y="387616"/>
                </a:cubicBezTo>
                <a:cubicBezTo>
                  <a:pt x="1313547" y="410457"/>
                  <a:pt x="1316566" y="450510"/>
                  <a:pt x="1293725" y="477075"/>
                </a:cubicBezTo>
                <a:cubicBezTo>
                  <a:pt x="1281638" y="491137"/>
                  <a:pt x="1263998" y="499204"/>
                  <a:pt x="1245453" y="499154"/>
                </a:cubicBezTo>
                <a:lnTo>
                  <a:pt x="1245167" y="499154"/>
                </a:lnTo>
                <a:cubicBezTo>
                  <a:pt x="1229965" y="499301"/>
                  <a:pt x="1215220" y="493956"/>
                  <a:pt x="1203638" y="484104"/>
                </a:cubicBezTo>
                <a:cubicBezTo>
                  <a:pt x="1111407" y="404300"/>
                  <a:pt x="1009633" y="336248"/>
                  <a:pt x="900647" y="281508"/>
                </a:cubicBezTo>
                <a:cubicBezTo>
                  <a:pt x="869295" y="265726"/>
                  <a:pt x="856672" y="227516"/>
                  <a:pt x="872454" y="196164"/>
                </a:cubicBezTo>
                <a:cubicBezTo>
                  <a:pt x="884290" y="172650"/>
                  <a:pt x="908742" y="159670"/>
                  <a:pt x="933455" y="161309"/>
                </a:cubicBezTo>
                <a:close/>
                <a:moveTo>
                  <a:pt x="256260" y="29"/>
                </a:moveTo>
                <a:cubicBezTo>
                  <a:pt x="322331" y="427"/>
                  <a:pt x="388378" y="4909"/>
                  <a:pt x="454020" y="13474"/>
                </a:cubicBezTo>
                <a:cubicBezTo>
                  <a:pt x="488793" y="17752"/>
                  <a:pt x="513514" y="49409"/>
                  <a:pt x="509236" y="84182"/>
                </a:cubicBezTo>
                <a:cubicBezTo>
                  <a:pt x="505303" y="116151"/>
                  <a:pt x="478038" y="140098"/>
                  <a:pt x="445829" y="139871"/>
                </a:cubicBezTo>
                <a:cubicBezTo>
                  <a:pt x="443027" y="139899"/>
                  <a:pt x="440227" y="139740"/>
                  <a:pt x="437447" y="139395"/>
                </a:cubicBezTo>
                <a:cubicBezTo>
                  <a:pt x="316592" y="123615"/>
                  <a:pt x="194247" y="122878"/>
                  <a:pt x="73211" y="137204"/>
                </a:cubicBezTo>
                <a:cubicBezTo>
                  <a:pt x="38532" y="142545"/>
                  <a:pt x="6090" y="118762"/>
                  <a:pt x="749" y="84082"/>
                </a:cubicBezTo>
                <a:cubicBezTo>
                  <a:pt x="-4591" y="49403"/>
                  <a:pt x="19192" y="16961"/>
                  <a:pt x="53871" y="11621"/>
                </a:cubicBezTo>
                <a:cubicBezTo>
                  <a:pt x="55358" y="11392"/>
                  <a:pt x="56852" y="11216"/>
                  <a:pt x="58352" y="11093"/>
                </a:cubicBezTo>
                <a:cubicBezTo>
                  <a:pt x="124093" y="3319"/>
                  <a:pt x="190189" y="-369"/>
                  <a:pt x="256260" y="29"/>
                </a:cubicBezTo>
                <a:close/>
              </a:path>
            </a:pathLst>
          </a:custGeom>
          <a:solidFill>
            <a:schemeClr val="accent4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pic>
        <p:nvPicPr>
          <p:cNvPr id="1026" name="Picture 2" descr="Java - Soziale Medien und Logos Symbole">
            <a:extLst>
              <a:ext uri="{FF2B5EF4-FFF2-40B4-BE49-F238E27FC236}">
                <a16:creationId xmlns:a16="http://schemas.microsoft.com/office/drawing/2014/main" id="{BDD48621-7511-C44E-CC6C-91B263343F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" b="2"/>
          <a:stretch/>
        </p:blipFill>
        <p:spPr bwMode="auto">
          <a:xfrm>
            <a:off x="631840" y="598720"/>
            <a:ext cx="5178249" cy="5178249"/>
          </a:xfrm>
          <a:custGeom>
            <a:avLst/>
            <a:gdLst/>
            <a:ahLst/>
            <a:cxnLst/>
            <a:rect l="l" t="t" r="r" b="b"/>
            <a:pathLst>
              <a:path w="3741748" h="3741748">
                <a:moveTo>
                  <a:pt x="1870874" y="0"/>
                </a:moveTo>
                <a:cubicBezTo>
                  <a:pt x="2904129" y="0"/>
                  <a:pt x="3741748" y="837619"/>
                  <a:pt x="3741748" y="1870874"/>
                </a:cubicBezTo>
                <a:cubicBezTo>
                  <a:pt x="3741748" y="2904129"/>
                  <a:pt x="2904129" y="3741748"/>
                  <a:pt x="1870874" y="3741748"/>
                </a:cubicBezTo>
                <a:cubicBezTo>
                  <a:pt x="837619" y="3741748"/>
                  <a:pt x="0" y="2904129"/>
                  <a:pt x="0" y="1870874"/>
                </a:cubicBezTo>
                <a:cubicBezTo>
                  <a:pt x="0" y="837619"/>
                  <a:pt x="837619" y="0"/>
                  <a:pt x="1870874" y="0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54" name="Freeform: Shape 1053">
            <a:extLst>
              <a:ext uri="{FF2B5EF4-FFF2-40B4-BE49-F238E27FC236}">
                <a16:creationId xmlns:a16="http://schemas.microsoft.com/office/drawing/2014/main" id="{5F2F0C84-BE8C-4DC2-A6D3-30349A801D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520513" y="6258756"/>
            <a:ext cx="1565940" cy="599245"/>
          </a:xfrm>
          <a:custGeom>
            <a:avLst/>
            <a:gdLst>
              <a:gd name="connsiteX0" fmla="*/ 782970 w 1565940"/>
              <a:gd name="connsiteY0" fmla="*/ 0 h 599245"/>
              <a:gd name="connsiteX1" fmla="*/ 1528042 w 1565940"/>
              <a:gd name="connsiteY1" fmla="*/ 480469 h 599245"/>
              <a:gd name="connsiteX2" fmla="*/ 1565940 w 1565940"/>
              <a:gd name="connsiteY2" fmla="*/ 599245 h 599245"/>
              <a:gd name="connsiteX3" fmla="*/ 0 w 1565940"/>
              <a:gd name="connsiteY3" fmla="*/ 599245 h 599245"/>
              <a:gd name="connsiteX4" fmla="*/ 37898 w 1565940"/>
              <a:gd name="connsiteY4" fmla="*/ 480469 h 599245"/>
              <a:gd name="connsiteX5" fmla="*/ 782970 w 1565940"/>
              <a:gd name="connsiteY5" fmla="*/ 0 h 5992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65940" h="599245">
                <a:moveTo>
                  <a:pt x="782970" y="0"/>
                </a:moveTo>
                <a:cubicBezTo>
                  <a:pt x="1117910" y="0"/>
                  <a:pt x="1405287" y="198118"/>
                  <a:pt x="1528042" y="480469"/>
                </a:cubicBezTo>
                <a:lnTo>
                  <a:pt x="1565940" y="599245"/>
                </a:lnTo>
                <a:lnTo>
                  <a:pt x="0" y="599245"/>
                </a:lnTo>
                <a:lnTo>
                  <a:pt x="37898" y="480469"/>
                </a:lnTo>
                <a:cubicBezTo>
                  <a:pt x="160653" y="198118"/>
                  <a:pt x="448030" y="0"/>
                  <a:pt x="782970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61731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6DFF170-3071-5173-9F09-40F84F104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Verwendete Technologien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FBE8B52-E3A3-85D1-350C-8B5D563DCA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sz="2400" b="1" u="sng" dirty="0"/>
              <a:t>Client:</a:t>
            </a:r>
          </a:p>
          <a:p>
            <a:r>
              <a:rPr lang="de-DE" sz="2000" dirty="0"/>
              <a:t>AES-256-GCM (für Verschlüsselung der Passwörter)</a:t>
            </a:r>
          </a:p>
          <a:p>
            <a:r>
              <a:rPr lang="de-DE" sz="2000" dirty="0"/>
              <a:t>JSON (zum Speichern der Settings)</a:t>
            </a:r>
          </a:p>
          <a:p>
            <a:r>
              <a:rPr lang="de-DE" sz="2000" dirty="0"/>
              <a:t>Swing UI Designer</a:t>
            </a:r>
          </a:p>
          <a:p>
            <a:r>
              <a:rPr lang="de-DE" sz="2000" dirty="0"/>
              <a:t>Lombok Getter/Setter</a:t>
            </a:r>
          </a:p>
          <a:p>
            <a:r>
              <a:rPr lang="de-DE" sz="2000" dirty="0"/>
              <a:t>MySQL-Connector (JDBC-Driver)</a:t>
            </a:r>
          </a:p>
          <a:p>
            <a:endParaRPr lang="de-DE" sz="2000" dirty="0"/>
          </a:p>
          <a:p>
            <a:pPr marL="0" indent="0">
              <a:buNone/>
            </a:pPr>
            <a:r>
              <a:rPr lang="de-DE" sz="2400" b="1" u="sng" dirty="0"/>
              <a:t>Server:</a:t>
            </a:r>
          </a:p>
          <a:p>
            <a:r>
              <a:rPr lang="de-DE" sz="2000" dirty="0"/>
              <a:t>MySQL Datenbank</a:t>
            </a:r>
          </a:p>
          <a:p>
            <a:r>
              <a:rPr lang="de-DE" sz="2000" dirty="0"/>
              <a:t>Docker Compose</a:t>
            </a:r>
          </a:p>
          <a:p>
            <a:r>
              <a:rPr lang="de-DE" sz="2000" dirty="0"/>
              <a:t>phpMyAdmin (optional </a:t>
            </a:r>
            <a:r>
              <a:rPr lang="de-DE" sz="2000" dirty="0">
                <a:sym typeface="Wingdings" panose="05000000000000000000" pitchFamily="2" charset="2"/>
              </a:rPr>
              <a:t> verwendet zum Debuggen</a:t>
            </a:r>
            <a:r>
              <a:rPr lang="de-DE" sz="20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6329485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EA0D1DA-378D-202D-A0E0-57A2F7D3CE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Technischer Hintergrund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F873ED8-0668-62AF-967F-7D83EDF533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sz="2000" b="1" dirty="0"/>
              <a:t>Anmelde Maske:</a:t>
            </a:r>
          </a:p>
        </p:txBody>
      </p:sp>
      <p:pic>
        <p:nvPicPr>
          <p:cNvPr id="8" name="Inhaltsplatzhalter 6">
            <a:extLst>
              <a:ext uri="{FF2B5EF4-FFF2-40B4-BE49-F238E27FC236}">
                <a16:creationId xmlns:a16="http://schemas.microsoft.com/office/drawing/2014/main" id="{90AADBD4-0B5D-76CF-3B6C-1E4D6CD01A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3575" y="2143863"/>
            <a:ext cx="2729652" cy="3405727"/>
          </a:xfrm>
          <a:prstGeom prst="rect">
            <a:avLst/>
          </a:prstGeom>
        </p:spPr>
      </p:pic>
      <p:sp>
        <p:nvSpPr>
          <p:cNvPr id="9" name="Rechteck 8">
            <a:extLst>
              <a:ext uri="{FF2B5EF4-FFF2-40B4-BE49-F238E27FC236}">
                <a16:creationId xmlns:a16="http://schemas.microsoft.com/office/drawing/2014/main" id="{C00654F4-C22C-0574-E318-6BF8FAF95321}"/>
              </a:ext>
            </a:extLst>
          </p:cNvPr>
          <p:cNvSpPr/>
          <p:nvPr/>
        </p:nvSpPr>
        <p:spPr>
          <a:xfrm>
            <a:off x="8477250" y="4654550"/>
            <a:ext cx="635000" cy="2730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614AC57B-680C-140C-3C19-47CEF706AD6D}"/>
              </a:ext>
            </a:extLst>
          </p:cNvPr>
          <p:cNvSpPr/>
          <p:nvPr/>
        </p:nvSpPr>
        <p:spPr>
          <a:xfrm>
            <a:off x="8420100" y="4960088"/>
            <a:ext cx="742949" cy="2730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AD84E114-D08B-6591-398C-AFE033C665E3}"/>
              </a:ext>
            </a:extLst>
          </p:cNvPr>
          <p:cNvCxnSpPr>
            <a:cxnSpLocks/>
            <a:stCxn id="9" idx="1"/>
          </p:cNvCxnSpPr>
          <p:nvPr/>
        </p:nvCxnSpPr>
        <p:spPr>
          <a:xfrm flipH="1">
            <a:off x="6800850" y="4791075"/>
            <a:ext cx="16764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14E2C50C-4AFD-B05F-F87C-09E06ED85648}"/>
              </a:ext>
            </a:extLst>
          </p:cNvPr>
          <p:cNvCxnSpPr/>
          <p:nvPr/>
        </p:nvCxnSpPr>
        <p:spPr>
          <a:xfrm flipH="1" flipV="1">
            <a:off x="6800850" y="5093438"/>
            <a:ext cx="1619250" cy="317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Textfeld 14">
            <a:extLst>
              <a:ext uri="{FF2B5EF4-FFF2-40B4-BE49-F238E27FC236}">
                <a16:creationId xmlns:a16="http://schemas.microsoft.com/office/drawing/2014/main" id="{183A5621-B4F1-F978-DCB6-2C867D4868F7}"/>
              </a:ext>
            </a:extLst>
          </p:cNvPr>
          <p:cNvSpPr txBox="1"/>
          <p:nvPr/>
        </p:nvSpPr>
        <p:spPr>
          <a:xfrm>
            <a:off x="5943601" y="4672709"/>
            <a:ext cx="8572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Anmelden</a:t>
            </a:r>
            <a:endParaRPr lang="de-DE" sz="1100" dirty="0"/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138885D9-1569-BF58-DA51-9E0E1C04FCF4}"/>
              </a:ext>
            </a:extLst>
          </p:cNvPr>
          <p:cNvSpPr txBox="1"/>
          <p:nvPr/>
        </p:nvSpPr>
        <p:spPr>
          <a:xfrm>
            <a:off x="5816600" y="4971528"/>
            <a:ext cx="9842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Registrieren</a:t>
            </a:r>
          </a:p>
        </p:txBody>
      </p:sp>
    </p:spTree>
    <p:extLst>
      <p:ext uri="{BB962C8B-B14F-4D97-AF65-F5344CB8AC3E}">
        <p14:creationId xmlns:p14="http://schemas.microsoft.com/office/powerpoint/2010/main" val="12134915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6236BE-5340-42D0-57D6-379B335A7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4C68866-945E-E942-2163-4C4015646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Technischer Hintergrund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CAEF4E8-7BDB-6C56-2CB7-358AF35A97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sz="2000" b="1" dirty="0"/>
              <a:t>Hauptfenster: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A412E9BC-BB5C-5053-870C-F48350CCC0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5047" y="1515977"/>
            <a:ext cx="3712634" cy="4970634"/>
          </a:xfrm>
          <a:prstGeom prst="rect">
            <a:avLst/>
          </a:prstGeom>
        </p:spPr>
      </p:pic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AE239735-4A51-75B1-8C2A-EAB34587FAFD}"/>
              </a:ext>
            </a:extLst>
          </p:cNvPr>
          <p:cNvGrpSpPr/>
          <p:nvPr/>
        </p:nvGrpSpPr>
        <p:grpSpPr>
          <a:xfrm>
            <a:off x="4977553" y="2757488"/>
            <a:ext cx="2699597" cy="277812"/>
            <a:chOff x="6349153" y="2411307"/>
            <a:chExt cx="2699597" cy="331893"/>
          </a:xfrm>
        </p:grpSpPr>
        <p:sp>
          <p:nvSpPr>
            <p:cNvPr id="19" name="Rechteck 18">
              <a:extLst>
                <a:ext uri="{FF2B5EF4-FFF2-40B4-BE49-F238E27FC236}">
                  <a16:creationId xmlns:a16="http://schemas.microsoft.com/office/drawing/2014/main" id="{6148E599-BFB3-5B7F-67C2-F7CA944B598E}"/>
                </a:ext>
              </a:extLst>
            </p:cNvPr>
            <p:cNvSpPr/>
            <p:nvPr/>
          </p:nvSpPr>
          <p:spPr>
            <a:xfrm>
              <a:off x="7124700" y="2411307"/>
              <a:ext cx="1924050" cy="33189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0" name="Gerader Verbinder 19">
              <a:extLst>
                <a:ext uri="{FF2B5EF4-FFF2-40B4-BE49-F238E27FC236}">
                  <a16:creationId xmlns:a16="http://schemas.microsoft.com/office/drawing/2014/main" id="{442868B0-4560-01A6-08DB-151CDB4A983E}"/>
                </a:ext>
              </a:extLst>
            </p:cNvPr>
            <p:cNvCxnSpPr>
              <a:cxnSpLocks/>
            </p:cNvCxnSpPr>
            <p:nvPr/>
          </p:nvCxnSpPr>
          <p:spPr>
            <a:xfrm>
              <a:off x="6349153" y="2590800"/>
              <a:ext cx="77554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1787C08C-75D7-182E-A452-E7757B49BBF2}"/>
              </a:ext>
            </a:extLst>
          </p:cNvPr>
          <p:cNvGrpSpPr/>
          <p:nvPr/>
        </p:nvGrpSpPr>
        <p:grpSpPr>
          <a:xfrm>
            <a:off x="4977553" y="2446479"/>
            <a:ext cx="2699597" cy="277812"/>
            <a:chOff x="6349153" y="2411307"/>
            <a:chExt cx="2699597" cy="331893"/>
          </a:xfrm>
        </p:grpSpPr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9033A0C7-D642-3E36-7EA2-701791B9B689}"/>
                </a:ext>
              </a:extLst>
            </p:cNvPr>
            <p:cNvSpPr/>
            <p:nvPr/>
          </p:nvSpPr>
          <p:spPr>
            <a:xfrm>
              <a:off x="7124700" y="2411307"/>
              <a:ext cx="1924050" cy="33189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3" name="Gerader Verbinder 22">
              <a:extLst>
                <a:ext uri="{FF2B5EF4-FFF2-40B4-BE49-F238E27FC236}">
                  <a16:creationId xmlns:a16="http://schemas.microsoft.com/office/drawing/2014/main" id="{4971A83A-05D4-F292-C1C6-592781D65503}"/>
                </a:ext>
              </a:extLst>
            </p:cNvPr>
            <p:cNvCxnSpPr>
              <a:cxnSpLocks/>
            </p:cNvCxnSpPr>
            <p:nvPr/>
          </p:nvCxnSpPr>
          <p:spPr>
            <a:xfrm>
              <a:off x="6349153" y="2590800"/>
              <a:ext cx="77554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C888E67D-DC3E-309E-4B57-5765B1561E62}"/>
              </a:ext>
            </a:extLst>
          </p:cNvPr>
          <p:cNvGrpSpPr/>
          <p:nvPr/>
        </p:nvGrpSpPr>
        <p:grpSpPr>
          <a:xfrm>
            <a:off x="4977553" y="3060983"/>
            <a:ext cx="2699597" cy="277812"/>
            <a:chOff x="6349153" y="2411307"/>
            <a:chExt cx="2699597" cy="331893"/>
          </a:xfrm>
        </p:grpSpPr>
        <p:sp>
          <p:nvSpPr>
            <p:cNvPr id="25" name="Rechteck 24">
              <a:extLst>
                <a:ext uri="{FF2B5EF4-FFF2-40B4-BE49-F238E27FC236}">
                  <a16:creationId xmlns:a16="http://schemas.microsoft.com/office/drawing/2014/main" id="{6B2A247B-52DE-98CA-EFFD-38176E664542}"/>
                </a:ext>
              </a:extLst>
            </p:cNvPr>
            <p:cNvSpPr/>
            <p:nvPr/>
          </p:nvSpPr>
          <p:spPr>
            <a:xfrm>
              <a:off x="7124700" y="2411307"/>
              <a:ext cx="1924050" cy="33189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6" name="Gerader Verbinder 25">
              <a:extLst>
                <a:ext uri="{FF2B5EF4-FFF2-40B4-BE49-F238E27FC236}">
                  <a16:creationId xmlns:a16="http://schemas.microsoft.com/office/drawing/2014/main" id="{0C3FE2A6-0A4E-A4BD-B9E2-355F5D9E1ED6}"/>
                </a:ext>
              </a:extLst>
            </p:cNvPr>
            <p:cNvCxnSpPr>
              <a:cxnSpLocks/>
            </p:cNvCxnSpPr>
            <p:nvPr/>
          </p:nvCxnSpPr>
          <p:spPr>
            <a:xfrm>
              <a:off x="6349153" y="2590800"/>
              <a:ext cx="77554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feld 26">
            <a:extLst>
              <a:ext uri="{FF2B5EF4-FFF2-40B4-BE49-F238E27FC236}">
                <a16:creationId xmlns:a16="http://schemas.microsoft.com/office/drawing/2014/main" id="{05D17127-7C74-E0CC-33DA-F8B2800390A2}"/>
              </a:ext>
            </a:extLst>
          </p:cNvPr>
          <p:cNvSpPr txBox="1"/>
          <p:nvPr/>
        </p:nvSpPr>
        <p:spPr>
          <a:xfrm>
            <a:off x="3008419" y="2318913"/>
            <a:ext cx="205210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Name des Eintrags </a:t>
            </a:r>
            <a:r>
              <a:rPr lang="de-DE" sz="1100" dirty="0">
                <a:sym typeface="Wingdings" panose="05000000000000000000" pitchFamily="2" charset="2"/>
              </a:rPr>
              <a:t> z.B. </a:t>
            </a:r>
          </a:p>
          <a:p>
            <a:r>
              <a:rPr lang="de-DE" sz="1100" dirty="0">
                <a:sym typeface="Wingdings" panose="05000000000000000000" pitchFamily="2" charset="2"/>
              </a:rPr>
              <a:t>Google Account</a:t>
            </a:r>
            <a:endParaRPr lang="de-DE" sz="1100" dirty="0"/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490C1C90-55A7-4B19-A886-6D8CBA5E20FE}"/>
              </a:ext>
            </a:extLst>
          </p:cNvPr>
          <p:cNvSpPr txBox="1"/>
          <p:nvPr/>
        </p:nvSpPr>
        <p:spPr>
          <a:xfrm>
            <a:off x="3008419" y="2705241"/>
            <a:ext cx="210248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Nutzername</a:t>
            </a:r>
            <a:r>
              <a:rPr lang="de-DE" sz="1100" dirty="0"/>
              <a:t> </a:t>
            </a:r>
            <a:r>
              <a:rPr lang="de-DE" sz="1100" dirty="0">
                <a:sym typeface="Wingdings" panose="05000000000000000000" pitchFamily="2" charset="2"/>
              </a:rPr>
              <a:t>z.B. </a:t>
            </a:r>
          </a:p>
          <a:p>
            <a:r>
              <a:rPr lang="de-DE" sz="1100" dirty="0">
                <a:sym typeface="Wingdings" panose="05000000000000000000" pitchFamily="2" charset="2"/>
              </a:rPr>
              <a:t>max.mustermann@email.com</a:t>
            </a: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F9EAC7FD-589E-DBAD-0D11-67A92A705FEF}"/>
              </a:ext>
            </a:extLst>
          </p:cNvPr>
          <p:cNvSpPr txBox="1"/>
          <p:nvPr/>
        </p:nvSpPr>
        <p:spPr>
          <a:xfrm>
            <a:off x="3008419" y="3060133"/>
            <a:ext cx="210248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Passwort</a:t>
            </a:r>
            <a:r>
              <a:rPr lang="de-DE" sz="1100" dirty="0"/>
              <a:t> </a:t>
            </a:r>
            <a:r>
              <a:rPr lang="de-DE" sz="1100" dirty="0">
                <a:sym typeface="Wingdings" panose="05000000000000000000" pitchFamily="2" charset="2"/>
              </a:rPr>
              <a:t>z.B. </a:t>
            </a:r>
          </a:p>
          <a:p>
            <a:r>
              <a:rPr lang="de-DE" sz="1100" dirty="0">
                <a:sym typeface="Wingdings" panose="05000000000000000000" pitchFamily="2" charset="2"/>
              </a:rPr>
              <a:t>max1234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3235D844-1836-39E1-7252-326073FC96EF}"/>
              </a:ext>
            </a:extLst>
          </p:cNvPr>
          <p:cNvSpPr/>
          <p:nvPr/>
        </p:nvSpPr>
        <p:spPr>
          <a:xfrm>
            <a:off x="5753100" y="3368107"/>
            <a:ext cx="533400" cy="3731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4" name="Verbinder: gewinkelt 33">
            <a:extLst>
              <a:ext uri="{FF2B5EF4-FFF2-40B4-BE49-F238E27FC236}">
                <a16:creationId xmlns:a16="http://schemas.microsoft.com/office/drawing/2014/main" id="{840FC459-2ECA-280E-4EFF-DF2AE09B8C7A}"/>
              </a:ext>
            </a:extLst>
          </p:cNvPr>
          <p:cNvCxnSpPr>
            <a:stCxn id="30" idx="1"/>
          </p:cNvCxnSpPr>
          <p:nvPr/>
        </p:nvCxnSpPr>
        <p:spPr>
          <a:xfrm rot="10800000" flipV="1">
            <a:off x="4229100" y="3554666"/>
            <a:ext cx="1524000" cy="687133"/>
          </a:xfrm>
          <a:prstGeom prst="bentConnector3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Textfeld 34">
            <a:extLst>
              <a:ext uri="{FF2B5EF4-FFF2-40B4-BE49-F238E27FC236}">
                <a16:creationId xmlns:a16="http://schemas.microsoft.com/office/drawing/2014/main" id="{3DF263DE-56A9-9FFD-86FE-6DBB54FEF719}"/>
              </a:ext>
            </a:extLst>
          </p:cNvPr>
          <p:cNvSpPr txBox="1"/>
          <p:nvPr/>
        </p:nvSpPr>
        <p:spPr>
          <a:xfrm>
            <a:off x="2762247" y="4108776"/>
            <a:ext cx="152400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Passwort generieren</a:t>
            </a:r>
            <a:endParaRPr lang="de-DE" sz="1100" dirty="0"/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65F1E123-D841-A3BF-C805-C3DE5659E5DD}"/>
              </a:ext>
            </a:extLst>
          </p:cNvPr>
          <p:cNvSpPr/>
          <p:nvPr/>
        </p:nvSpPr>
        <p:spPr>
          <a:xfrm>
            <a:off x="6922348" y="3367439"/>
            <a:ext cx="533400" cy="3731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8" name="Verbinder: gewinkelt 37">
            <a:extLst>
              <a:ext uri="{FF2B5EF4-FFF2-40B4-BE49-F238E27FC236}">
                <a16:creationId xmlns:a16="http://schemas.microsoft.com/office/drawing/2014/main" id="{0C79A98A-1CB1-CCE5-1DCF-C619A70D08DB}"/>
              </a:ext>
            </a:extLst>
          </p:cNvPr>
          <p:cNvCxnSpPr>
            <a:stCxn id="36" idx="2"/>
          </p:cNvCxnSpPr>
          <p:nvPr/>
        </p:nvCxnSpPr>
        <p:spPr>
          <a:xfrm rot="5400000">
            <a:off x="5217154" y="2752505"/>
            <a:ext cx="983841" cy="2959949"/>
          </a:xfrm>
          <a:prstGeom prst="bentConnector2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9" name="Textfeld 38">
            <a:extLst>
              <a:ext uri="{FF2B5EF4-FFF2-40B4-BE49-F238E27FC236}">
                <a16:creationId xmlns:a16="http://schemas.microsoft.com/office/drawing/2014/main" id="{A393AB46-661A-289D-DE8B-108792BFC456}"/>
              </a:ext>
            </a:extLst>
          </p:cNvPr>
          <p:cNvSpPr txBox="1"/>
          <p:nvPr/>
        </p:nvSpPr>
        <p:spPr>
          <a:xfrm>
            <a:off x="2762247" y="4523159"/>
            <a:ext cx="152400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Eintrag zur Tabelle hinzufügen</a:t>
            </a: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F91FDF8E-FA3B-5B83-63F6-1789A9DDFD22}"/>
              </a:ext>
            </a:extLst>
          </p:cNvPr>
          <p:cNvSpPr/>
          <p:nvPr/>
        </p:nvSpPr>
        <p:spPr>
          <a:xfrm>
            <a:off x="8100910" y="3367439"/>
            <a:ext cx="533400" cy="3731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42" name="Verbinder: gewinkelt 41">
            <a:extLst>
              <a:ext uri="{FF2B5EF4-FFF2-40B4-BE49-F238E27FC236}">
                <a16:creationId xmlns:a16="http://schemas.microsoft.com/office/drawing/2014/main" id="{655A7CAB-F8C7-4DB5-5370-2CCDA5068410}"/>
              </a:ext>
            </a:extLst>
          </p:cNvPr>
          <p:cNvCxnSpPr>
            <a:stCxn id="40" idx="2"/>
          </p:cNvCxnSpPr>
          <p:nvPr/>
        </p:nvCxnSpPr>
        <p:spPr>
          <a:xfrm rot="5400000">
            <a:off x="5460359" y="2509298"/>
            <a:ext cx="1675991" cy="4138512"/>
          </a:xfrm>
          <a:prstGeom prst="bentConnector2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Textfeld 42">
            <a:extLst>
              <a:ext uri="{FF2B5EF4-FFF2-40B4-BE49-F238E27FC236}">
                <a16:creationId xmlns:a16="http://schemas.microsoft.com/office/drawing/2014/main" id="{A8CDFBDF-F4FB-5185-6870-1C3667393DCA}"/>
              </a:ext>
            </a:extLst>
          </p:cNvPr>
          <p:cNvSpPr txBox="1"/>
          <p:nvPr/>
        </p:nvSpPr>
        <p:spPr>
          <a:xfrm>
            <a:off x="2762247" y="5269763"/>
            <a:ext cx="152400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Speichern</a:t>
            </a: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B2B8115E-0953-E051-9875-D05B6E82449E}"/>
              </a:ext>
            </a:extLst>
          </p:cNvPr>
          <p:cNvSpPr/>
          <p:nvPr/>
        </p:nvSpPr>
        <p:spPr>
          <a:xfrm>
            <a:off x="8754960" y="1781555"/>
            <a:ext cx="533400" cy="3731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E8113F61-9816-8E62-E320-9BFC369EAE19}"/>
              </a:ext>
            </a:extLst>
          </p:cNvPr>
          <p:cNvCxnSpPr>
            <a:stCxn id="44" idx="3"/>
          </p:cNvCxnSpPr>
          <p:nvPr/>
        </p:nvCxnSpPr>
        <p:spPr>
          <a:xfrm>
            <a:off x="9288360" y="1968115"/>
            <a:ext cx="630340" cy="182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Textfeld 46">
            <a:extLst>
              <a:ext uri="{FF2B5EF4-FFF2-40B4-BE49-F238E27FC236}">
                <a16:creationId xmlns:a16="http://schemas.microsoft.com/office/drawing/2014/main" id="{998C608F-4EC4-4354-B46A-637DF474582D}"/>
              </a:ext>
            </a:extLst>
          </p:cNvPr>
          <p:cNvSpPr txBox="1"/>
          <p:nvPr/>
        </p:nvSpPr>
        <p:spPr>
          <a:xfrm>
            <a:off x="9906210" y="1828871"/>
            <a:ext cx="20521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Abmelden</a:t>
            </a:r>
            <a:endParaRPr lang="de-DE" sz="1100" dirty="0"/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5D5362C9-BC8C-5B4E-27BF-38A0E4D9A0A6}"/>
              </a:ext>
            </a:extLst>
          </p:cNvPr>
          <p:cNvSpPr/>
          <p:nvPr/>
        </p:nvSpPr>
        <p:spPr>
          <a:xfrm>
            <a:off x="8754960" y="2145865"/>
            <a:ext cx="533400" cy="2208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DC41DFC2-515B-93CA-D780-67804947BF3B}"/>
              </a:ext>
            </a:extLst>
          </p:cNvPr>
          <p:cNvCxnSpPr>
            <a:stCxn id="48" idx="3"/>
          </p:cNvCxnSpPr>
          <p:nvPr/>
        </p:nvCxnSpPr>
        <p:spPr>
          <a:xfrm flipV="1">
            <a:off x="9288360" y="2254250"/>
            <a:ext cx="630340" cy="204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1" name="Textfeld 50">
            <a:extLst>
              <a:ext uri="{FF2B5EF4-FFF2-40B4-BE49-F238E27FC236}">
                <a16:creationId xmlns:a16="http://schemas.microsoft.com/office/drawing/2014/main" id="{9C4DE44E-8EA1-FC25-84C5-96E10F5F5C6C}"/>
              </a:ext>
            </a:extLst>
          </p:cNvPr>
          <p:cNvSpPr txBox="1"/>
          <p:nvPr/>
        </p:nvSpPr>
        <p:spPr>
          <a:xfrm>
            <a:off x="9918700" y="2109253"/>
            <a:ext cx="20521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b="1" dirty="0"/>
              <a:t>Einstellungen</a:t>
            </a:r>
            <a:endParaRPr lang="de-DE" sz="1100" dirty="0"/>
          </a:p>
        </p:txBody>
      </p:sp>
    </p:spTree>
    <p:extLst>
      <p:ext uri="{BB962C8B-B14F-4D97-AF65-F5344CB8AC3E}">
        <p14:creationId xmlns:p14="http://schemas.microsoft.com/office/powerpoint/2010/main" val="11035270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802E7C-6FFF-C082-1FFE-A4950742F9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3CFA9F2-8837-E5B6-8425-5CC48C8FD2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Technischer Hintergrund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6038C3A-873E-3845-090C-C8FA4418AB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sz="2000" b="1" dirty="0"/>
              <a:t>Einstellungen: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38204D75-5CF4-B051-2DCA-7269A90283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636707"/>
            <a:ext cx="4069454" cy="27291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69065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798F738-6748-F9A3-D910-5F118C7569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Umsetzung </a:t>
            </a:r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endParaRPr lang="de-DE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814F278-5A46-11EE-4BA2-1C4D522558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933220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54532F-50B0-3C8E-A519-894B989F5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705FA3B-82EF-9F9C-6B48-7B00C9A567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Umsetzung</a:t>
            </a:r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- Speicherung der Passwörter (Lokal)</a:t>
            </a:r>
            <a:endParaRPr lang="de-DE" u="sng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AD2D4F3-D0CC-8FEE-A212-B4DF45B6B9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sz="2000" b="1" dirty="0"/>
              <a:t>Allgemein:</a:t>
            </a:r>
          </a:p>
          <a:p>
            <a:pPr lvl="1"/>
            <a:r>
              <a:rPr lang="de-DE" sz="1600" b="1" dirty="0"/>
              <a:t>Passwörter werden als eine Binär Datei pro Benutzer abgespeichert</a:t>
            </a:r>
          </a:p>
          <a:p>
            <a:pPr lvl="1"/>
            <a:r>
              <a:rPr lang="de-DE" sz="1600" b="1" dirty="0"/>
              <a:t>Ersten 16 Byte = Salt</a:t>
            </a:r>
          </a:p>
          <a:p>
            <a:pPr lvl="1"/>
            <a:r>
              <a:rPr lang="de-DE" sz="1600" b="1" dirty="0"/>
              <a:t>Zweiten 16 Byte = IV (Initialisierungsvektor)</a:t>
            </a:r>
          </a:p>
          <a:p>
            <a:pPr lvl="1"/>
            <a:r>
              <a:rPr lang="de-DE" sz="1600" b="1" dirty="0"/>
              <a:t>Rest = Daten (Passwörter)</a:t>
            </a:r>
          </a:p>
        </p:txBody>
      </p:sp>
      <p:pic>
        <p:nvPicPr>
          <p:cNvPr id="31" name="Grafik 30" descr="Ein Bild, das Text, Screenshot, Schrift, Software enthält.&#10;&#10;KI-generierte Inhalte können fehlerhaft sein.">
            <a:extLst>
              <a:ext uri="{FF2B5EF4-FFF2-40B4-BE49-F238E27FC236}">
                <a16:creationId xmlns:a16="http://schemas.microsoft.com/office/drawing/2014/main" id="{71C76BD5-5211-E302-7C5D-DE550874CB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3812550"/>
            <a:ext cx="6745474" cy="2452900"/>
          </a:xfrm>
          <a:prstGeom prst="rect">
            <a:avLst/>
          </a:prstGeom>
        </p:spPr>
      </p:pic>
      <p:pic>
        <p:nvPicPr>
          <p:cNvPr id="35" name="Grafik 34" descr="Ein Bild, das Text, Screenshot, Software, Schrift enthält.&#10;&#10;KI-generierte Inhalte können fehlerhaft sein.">
            <a:extLst>
              <a:ext uri="{FF2B5EF4-FFF2-40B4-BE49-F238E27FC236}">
                <a16:creationId xmlns:a16="http://schemas.microsoft.com/office/drawing/2014/main" id="{F6D92926-AF1B-A23B-975F-1FAED69046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3812550"/>
            <a:ext cx="6745474" cy="2452900"/>
          </a:xfrm>
          <a:prstGeom prst="rect">
            <a:avLst/>
          </a:prstGeom>
        </p:spPr>
      </p:pic>
      <p:pic>
        <p:nvPicPr>
          <p:cNvPr id="33" name="Grafik 32" descr="Ein Bild, das Text, Screenshot, Software, Schrift enthält.&#10;&#10;KI-generierte Inhalte können fehlerhaft sein.">
            <a:extLst>
              <a:ext uri="{FF2B5EF4-FFF2-40B4-BE49-F238E27FC236}">
                <a16:creationId xmlns:a16="http://schemas.microsoft.com/office/drawing/2014/main" id="{BB48BBA6-685D-4364-5EF0-C6044D63E5D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3812550"/>
            <a:ext cx="6745474" cy="2452900"/>
          </a:xfrm>
          <a:prstGeom prst="rect">
            <a:avLst/>
          </a:prstGeom>
        </p:spPr>
      </p:pic>
      <p:pic>
        <p:nvPicPr>
          <p:cNvPr id="37" name="Grafik 36" descr="Ein Bild, das Text, Screenshot, Software, Computersymbol enthält.&#10;&#10;KI-generierte Inhalte können fehlerhaft sein.">
            <a:extLst>
              <a:ext uri="{FF2B5EF4-FFF2-40B4-BE49-F238E27FC236}">
                <a16:creationId xmlns:a16="http://schemas.microsoft.com/office/drawing/2014/main" id="{90766113-DCFE-67B2-BE8F-C622B6D9ABB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3812551"/>
            <a:ext cx="6745474" cy="2452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3039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7F335A-FDF6-4F22-13CA-08ED29DA5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Rechteck 42">
            <a:extLst>
              <a:ext uri="{FF2B5EF4-FFF2-40B4-BE49-F238E27FC236}">
                <a16:creationId xmlns:a16="http://schemas.microsoft.com/office/drawing/2014/main" id="{55442D66-9D20-BED2-65CE-AF06167F338A}"/>
              </a:ext>
            </a:extLst>
          </p:cNvPr>
          <p:cNvSpPr/>
          <p:nvPr/>
        </p:nvSpPr>
        <p:spPr>
          <a:xfrm>
            <a:off x="9448803" y="3345180"/>
            <a:ext cx="2080258" cy="3147694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dirty="0"/>
              <a:t>Hauptfenster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C6E42FAA-740A-F474-5731-C146C9DE1E1E}"/>
              </a:ext>
            </a:extLst>
          </p:cNvPr>
          <p:cNvSpPr/>
          <p:nvPr/>
        </p:nvSpPr>
        <p:spPr>
          <a:xfrm>
            <a:off x="4838700" y="1531621"/>
            <a:ext cx="4419600" cy="129302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dirty="0"/>
              <a:t>Anmelde Maske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4B11FFC5-91C5-0BA4-1BD8-6BAA5617AF0F}"/>
              </a:ext>
            </a:extLst>
          </p:cNvPr>
          <p:cNvSpPr/>
          <p:nvPr/>
        </p:nvSpPr>
        <p:spPr>
          <a:xfrm>
            <a:off x="844550" y="1992791"/>
            <a:ext cx="2622550" cy="4706459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dirty="0"/>
              <a:t>Datei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C3531C2-260F-3E4A-71D3-613883B29F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Umsetzung</a:t>
            </a:r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- Verschlüsselung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6A4FFCB1-7B71-2568-52FD-19DDB9FDCD2F}"/>
              </a:ext>
            </a:extLst>
          </p:cNvPr>
          <p:cNvSpPr/>
          <p:nvPr/>
        </p:nvSpPr>
        <p:spPr>
          <a:xfrm>
            <a:off x="4373562" y="4052888"/>
            <a:ext cx="4624388" cy="1166811"/>
          </a:xfrm>
          <a:custGeom>
            <a:avLst/>
            <a:gdLst>
              <a:gd name="connsiteX0" fmla="*/ 0 w 4622800"/>
              <a:gd name="connsiteY0" fmla="*/ 0 h 1166811"/>
              <a:gd name="connsiteX1" fmla="*/ 4622800 w 4622800"/>
              <a:gd name="connsiteY1" fmla="*/ 0 h 1166811"/>
              <a:gd name="connsiteX2" fmla="*/ 4622800 w 4622800"/>
              <a:gd name="connsiteY2" fmla="*/ 1166811 h 1166811"/>
              <a:gd name="connsiteX3" fmla="*/ 0 w 4622800"/>
              <a:gd name="connsiteY3" fmla="*/ 1166811 h 1166811"/>
              <a:gd name="connsiteX4" fmla="*/ 0 w 4622800"/>
              <a:gd name="connsiteY4" fmla="*/ 0 h 1166811"/>
              <a:gd name="connsiteX0" fmla="*/ 6350 w 4629150"/>
              <a:gd name="connsiteY0" fmla="*/ 0 h 1166811"/>
              <a:gd name="connsiteX1" fmla="*/ 4629150 w 4629150"/>
              <a:gd name="connsiteY1" fmla="*/ 0 h 1166811"/>
              <a:gd name="connsiteX2" fmla="*/ 4629150 w 4629150"/>
              <a:gd name="connsiteY2" fmla="*/ 1166811 h 1166811"/>
              <a:gd name="connsiteX3" fmla="*/ 6350 w 4629150"/>
              <a:gd name="connsiteY3" fmla="*/ 1166811 h 1166811"/>
              <a:gd name="connsiteX4" fmla="*/ 0 w 4629150"/>
              <a:gd name="connsiteY4" fmla="*/ 931862 h 1166811"/>
              <a:gd name="connsiteX5" fmla="*/ 6350 w 4629150"/>
              <a:gd name="connsiteY5" fmla="*/ 0 h 1166811"/>
              <a:gd name="connsiteX0" fmla="*/ 6350 w 4629150"/>
              <a:gd name="connsiteY0" fmla="*/ 0 h 1166811"/>
              <a:gd name="connsiteX1" fmla="*/ 4629150 w 4629150"/>
              <a:gd name="connsiteY1" fmla="*/ 0 h 1166811"/>
              <a:gd name="connsiteX2" fmla="*/ 4629150 w 4629150"/>
              <a:gd name="connsiteY2" fmla="*/ 1166811 h 1166811"/>
              <a:gd name="connsiteX3" fmla="*/ 6350 w 4629150"/>
              <a:gd name="connsiteY3" fmla="*/ 1166811 h 1166811"/>
              <a:gd name="connsiteX4" fmla="*/ 0 w 4629150"/>
              <a:gd name="connsiteY4" fmla="*/ 341312 h 1166811"/>
              <a:gd name="connsiteX5" fmla="*/ 6350 w 4629150"/>
              <a:gd name="connsiteY5" fmla="*/ 0 h 1166811"/>
              <a:gd name="connsiteX0" fmla="*/ 1588 w 4624388"/>
              <a:gd name="connsiteY0" fmla="*/ 0 h 1166811"/>
              <a:gd name="connsiteX1" fmla="*/ 4624388 w 4624388"/>
              <a:gd name="connsiteY1" fmla="*/ 0 h 1166811"/>
              <a:gd name="connsiteX2" fmla="*/ 4624388 w 4624388"/>
              <a:gd name="connsiteY2" fmla="*/ 1166811 h 1166811"/>
              <a:gd name="connsiteX3" fmla="*/ 1588 w 4624388"/>
              <a:gd name="connsiteY3" fmla="*/ 1166811 h 1166811"/>
              <a:gd name="connsiteX4" fmla="*/ 0 w 4624388"/>
              <a:gd name="connsiteY4" fmla="*/ 341312 h 1166811"/>
              <a:gd name="connsiteX5" fmla="*/ 1588 w 4624388"/>
              <a:gd name="connsiteY5" fmla="*/ 0 h 11668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624388" h="1166811">
                <a:moveTo>
                  <a:pt x="1588" y="0"/>
                </a:moveTo>
                <a:lnTo>
                  <a:pt x="4624388" y="0"/>
                </a:lnTo>
                <a:lnTo>
                  <a:pt x="4624388" y="1166811"/>
                </a:lnTo>
                <a:lnTo>
                  <a:pt x="1588" y="1166811"/>
                </a:lnTo>
                <a:cubicBezTo>
                  <a:pt x="-529" y="891645"/>
                  <a:pt x="2117" y="616478"/>
                  <a:pt x="0" y="341312"/>
                </a:cubicBezTo>
                <a:cubicBezTo>
                  <a:pt x="2117" y="30691"/>
                  <a:pt x="-529" y="310621"/>
                  <a:pt x="1588" y="0"/>
                </a:cubicBez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Verschlüsselung mittels</a:t>
            </a:r>
          </a:p>
          <a:p>
            <a:pPr algn="ctr"/>
            <a:r>
              <a:rPr lang="de-DE" dirty="0"/>
              <a:t>AES256-GCM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5B5B6B37-D552-6555-AA15-7D01359DDAAD}"/>
              </a:ext>
            </a:extLst>
          </p:cNvPr>
          <p:cNvSpPr/>
          <p:nvPr/>
        </p:nvSpPr>
        <p:spPr>
          <a:xfrm>
            <a:off x="1200150" y="2501900"/>
            <a:ext cx="1803400" cy="4381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Salt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CB22EE3A-4E53-C6A4-9036-0FDC4596957B}"/>
              </a:ext>
            </a:extLst>
          </p:cNvPr>
          <p:cNvSpPr/>
          <p:nvPr/>
        </p:nvSpPr>
        <p:spPr>
          <a:xfrm>
            <a:off x="1200150" y="3061494"/>
            <a:ext cx="1803400" cy="4381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IV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14210BBF-EEA9-6490-B445-193CBD322B55}"/>
              </a:ext>
            </a:extLst>
          </p:cNvPr>
          <p:cNvSpPr/>
          <p:nvPr/>
        </p:nvSpPr>
        <p:spPr>
          <a:xfrm>
            <a:off x="1200150" y="3618706"/>
            <a:ext cx="1803400" cy="29090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Verschlüsselte</a:t>
            </a:r>
          </a:p>
          <a:p>
            <a:pPr algn="ctr"/>
            <a:r>
              <a:rPr lang="de-DE" dirty="0"/>
              <a:t>Daten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9B83E9CE-2092-21E9-3B48-06142B90B997}"/>
              </a:ext>
            </a:extLst>
          </p:cNvPr>
          <p:cNvSpPr/>
          <p:nvPr/>
        </p:nvSpPr>
        <p:spPr>
          <a:xfrm>
            <a:off x="7239000" y="2003901"/>
            <a:ext cx="1758950" cy="671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Master</a:t>
            </a:r>
          </a:p>
          <a:p>
            <a:pPr algn="ctr"/>
            <a:r>
              <a:rPr lang="de-DE" dirty="0"/>
              <a:t>Passwort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FED52332-0F5E-4EE6-0EE9-46F8A824BF04}"/>
              </a:ext>
            </a:extLst>
          </p:cNvPr>
          <p:cNvSpPr/>
          <p:nvPr/>
        </p:nvSpPr>
        <p:spPr>
          <a:xfrm>
            <a:off x="5791200" y="3066257"/>
            <a:ext cx="3206750" cy="673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Key Ableitung mittels</a:t>
            </a:r>
          </a:p>
          <a:p>
            <a:pPr algn="ctr"/>
            <a:r>
              <a:rPr lang="de-DE" dirty="0"/>
              <a:t>PBKDF2-HMAC-SHA256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BEDC6B56-3A3C-58F9-2397-24E63B04E08D}"/>
              </a:ext>
            </a:extLst>
          </p:cNvPr>
          <p:cNvSpPr/>
          <p:nvPr/>
        </p:nvSpPr>
        <p:spPr>
          <a:xfrm>
            <a:off x="9969500" y="4052888"/>
            <a:ext cx="1111250" cy="21240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Klartext</a:t>
            </a:r>
          </a:p>
          <a:p>
            <a:pPr algn="ctr"/>
            <a:r>
              <a:rPr lang="de-DE" dirty="0"/>
              <a:t>Daten</a:t>
            </a:r>
          </a:p>
        </p:txBody>
      </p:sp>
      <p:cxnSp>
        <p:nvCxnSpPr>
          <p:cNvPr id="16" name="Verbinder: gewinkelt 15">
            <a:extLst>
              <a:ext uri="{FF2B5EF4-FFF2-40B4-BE49-F238E27FC236}">
                <a16:creationId xmlns:a16="http://schemas.microsoft.com/office/drawing/2014/main" id="{2F36659F-4F1B-5679-40DC-E2568ED209DF}"/>
              </a:ext>
            </a:extLst>
          </p:cNvPr>
          <p:cNvCxnSpPr>
            <a:cxnSpLocks/>
            <a:stCxn id="5" idx="3"/>
          </p:cNvCxnSpPr>
          <p:nvPr/>
        </p:nvCxnSpPr>
        <p:spPr>
          <a:xfrm>
            <a:off x="3003550" y="2720975"/>
            <a:ext cx="1182688" cy="506414"/>
          </a:xfrm>
          <a:prstGeom prst="bentConnector3">
            <a:avLst>
              <a:gd name="adj1" fmla="val 61597"/>
            </a:avLst>
          </a:prstGeom>
          <a:ln w="57150"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29" name="Verbinder: gewinkelt 28">
            <a:extLst>
              <a:ext uri="{FF2B5EF4-FFF2-40B4-BE49-F238E27FC236}">
                <a16:creationId xmlns:a16="http://schemas.microsoft.com/office/drawing/2014/main" id="{26082CC4-49B8-8B7F-8EE6-50D815B71D2D}"/>
              </a:ext>
            </a:extLst>
          </p:cNvPr>
          <p:cNvCxnSpPr>
            <a:cxnSpLocks/>
            <a:stCxn id="6" idx="3"/>
            <a:endCxn id="56" idx="1"/>
          </p:cNvCxnSpPr>
          <p:nvPr/>
        </p:nvCxnSpPr>
        <p:spPr>
          <a:xfrm>
            <a:off x="3003550" y="3280569"/>
            <a:ext cx="1177929" cy="117475"/>
          </a:xfrm>
          <a:prstGeom prst="bentConnector3">
            <a:avLst/>
          </a:prstGeom>
          <a:ln w="57150"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31" name="Verbinder: gewinkelt 30">
            <a:extLst>
              <a:ext uri="{FF2B5EF4-FFF2-40B4-BE49-F238E27FC236}">
                <a16:creationId xmlns:a16="http://schemas.microsoft.com/office/drawing/2014/main" id="{6E27F0B3-0E02-675C-E99F-2D807275383A}"/>
              </a:ext>
            </a:extLst>
          </p:cNvPr>
          <p:cNvCxnSpPr>
            <a:cxnSpLocks/>
            <a:stCxn id="7" idx="3"/>
          </p:cNvCxnSpPr>
          <p:nvPr/>
        </p:nvCxnSpPr>
        <p:spPr>
          <a:xfrm flipV="1">
            <a:off x="3003550" y="4855368"/>
            <a:ext cx="1365250" cy="217885"/>
          </a:xfrm>
          <a:prstGeom prst="bentConnector3">
            <a:avLst/>
          </a:prstGeom>
          <a:ln w="57150">
            <a:headEnd type="triangle" w="med" len="med"/>
            <a:tailEnd type="none" w="med" len="med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38" name="Gerade Verbindung mit Pfeil 37">
            <a:extLst>
              <a:ext uri="{FF2B5EF4-FFF2-40B4-BE49-F238E27FC236}">
                <a16:creationId xmlns:a16="http://schemas.microsoft.com/office/drawing/2014/main" id="{744C0A11-B705-C721-D27D-DA7719E39C20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8118475" y="2675413"/>
            <a:ext cx="0" cy="386081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2A7D50FC-0369-A4A9-5474-818F88DFED03}"/>
              </a:ext>
            </a:extLst>
          </p:cNvPr>
          <p:cNvCxnSpPr>
            <a:stCxn id="9" idx="2"/>
          </p:cNvCxnSpPr>
          <p:nvPr/>
        </p:nvCxnSpPr>
        <p:spPr>
          <a:xfrm>
            <a:off x="7394575" y="3739357"/>
            <a:ext cx="0" cy="313531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DE5B91FB-EAFB-D760-0DF8-7694B2F84516}"/>
              </a:ext>
            </a:extLst>
          </p:cNvPr>
          <p:cNvCxnSpPr/>
          <p:nvPr/>
        </p:nvCxnSpPr>
        <p:spPr>
          <a:xfrm>
            <a:off x="8997950" y="4636293"/>
            <a:ext cx="971550" cy="0"/>
          </a:xfrm>
          <a:prstGeom prst="straightConnector1">
            <a:avLst/>
          </a:prstGeom>
          <a:ln w="57150">
            <a:headEnd type="triangle" w="med" len="med"/>
            <a:tailEnd type="none" w="med" len="med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49" name="Rechteck 48">
            <a:extLst>
              <a:ext uri="{FF2B5EF4-FFF2-40B4-BE49-F238E27FC236}">
                <a16:creationId xmlns:a16="http://schemas.microsoft.com/office/drawing/2014/main" id="{F525E0AF-05BA-4D6E-2752-F2FF14AEECC7}"/>
              </a:ext>
            </a:extLst>
          </p:cNvPr>
          <p:cNvSpPr/>
          <p:nvPr/>
        </p:nvSpPr>
        <p:spPr>
          <a:xfrm>
            <a:off x="5219700" y="1992791"/>
            <a:ext cx="1758950" cy="671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Username</a:t>
            </a:r>
          </a:p>
        </p:txBody>
      </p: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E0094C3E-561E-1E15-E56C-83A4A9724F4F}"/>
              </a:ext>
            </a:extLst>
          </p:cNvPr>
          <p:cNvCxnSpPr>
            <a:stCxn id="49" idx="1"/>
          </p:cNvCxnSpPr>
          <p:nvPr/>
        </p:nvCxnSpPr>
        <p:spPr>
          <a:xfrm flipH="1">
            <a:off x="3467100" y="2328547"/>
            <a:ext cx="1752600" cy="1111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52" name="Textfeld 51">
            <a:extLst>
              <a:ext uri="{FF2B5EF4-FFF2-40B4-BE49-F238E27FC236}">
                <a16:creationId xmlns:a16="http://schemas.microsoft.com/office/drawing/2014/main" id="{4FEADF0C-8A4A-FB74-E91A-29514645F116}"/>
              </a:ext>
            </a:extLst>
          </p:cNvPr>
          <p:cNvSpPr txBox="1"/>
          <p:nvPr/>
        </p:nvSpPr>
        <p:spPr>
          <a:xfrm>
            <a:off x="3658569" y="1796515"/>
            <a:ext cx="118013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400" dirty="0"/>
              <a:t>Generierung </a:t>
            </a:r>
          </a:p>
          <a:p>
            <a:pPr algn="ctr"/>
            <a:r>
              <a:rPr lang="de-DE" sz="1400" dirty="0"/>
              <a:t>Datei</a:t>
            </a: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0D16D9BC-85B3-2266-047B-5166E862DEBA}"/>
              </a:ext>
            </a:extLst>
          </p:cNvPr>
          <p:cNvSpPr/>
          <p:nvPr/>
        </p:nvSpPr>
        <p:spPr>
          <a:xfrm>
            <a:off x="4181479" y="3061494"/>
            <a:ext cx="1335087" cy="673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Generiere</a:t>
            </a:r>
          </a:p>
          <a:p>
            <a:pPr algn="ctr"/>
            <a:r>
              <a:rPr lang="de-DE" dirty="0"/>
              <a:t>IV + Salt</a:t>
            </a:r>
          </a:p>
        </p:txBody>
      </p:sp>
      <p:cxnSp>
        <p:nvCxnSpPr>
          <p:cNvPr id="61" name="Gerade Verbindung mit Pfeil 60">
            <a:extLst>
              <a:ext uri="{FF2B5EF4-FFF2-40B4-BE49-F238E27FC236}">
                <a16:creationId xmlns:a16="http://schemas.microsoft.com/office/drawing/2014/main" id="{B5966B15-5481-24DC-73BB-0A04D53D6366}"/>
              </a:ext>
            </a:extLst>
          </p:cNvPr>
          <p:cNvCxnSpPr/>
          <p:nvPr/>
        </p:nvCxnSpPr>
        <p:spPr>
          <a:xfrm>
            <a:off x="4579620" y="3751265"/>
            <a:ext cx="0" cy="301623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71D6C7FC-B508-0E39-D8F5-561DFED9FA6B}"/>
              </a:ext>
            </a:extLst>
          </p:cNvPr>
          <p:cNvCxnSpPr>
            <a:cxnSpLocks/>
          </p:cNvCxnSpPr>
          <p:nvPr/>
        </p:nvCxnSpPr>
        <p:spPr>
          <a:xfrm>
            <a:off x="5516566" y="3550444"/>
            <a:ext cx="274634" cy="4763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64" name="Textfeld 63">
            <a:extLst>
              <a:ext uri="{FF2B5EF4-FFF2-40B4-BE49-F238E27FC236}">
                <a16:creationId xmlns:a16="http://schemas.microsoft.com/office/drawing/2014/main" id="{86388E3E-0F6E-7F4C-537E-C7FA18E4A972}"/>
              </a:ext>
            </a:extLst>
          </p:cNvPr>
          <p:cNvSpPr txBox="1"/>
          <p:nvPr/>
        </p:nvSpPr>
        <p:spPr>
          <a:xfrm>
            <a:off x="3686175" y="2813214"/>
            <a:ext cx="79060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100" dirty="0">
                <a:solidFill>
                  <a:srgbClr val="FF0000"/>
                </a:solidFill>
              </a:rPr>
              <a:t>speichern</a:t>
            </a:r>
          </a:p>
        </p:txBody>
      </p:sp>
      <p:sp>
        <p:nvSpPr>
          <p:cNvPr id="66" name="Pfeil: nach links 65">
            <a:extLst>
              <a:ext uri="{FF2B5EF4-FFF2-40B4-BE49-F238E27FC236}">
                <a16:creationId xmlns:a16="http://schemas.microsoft.com/office/drawing/2014/main" id="{BEE5362A-9925-4F43-C915-2512281AA4FB}"/>
              </a:ext>
            </a:extLst>
          </p:cNvPr>
          <p:cNvSpPr/>
          <p:nvPr/>
        </p:nvSpPr>
        <p:spPr>
          <a:xfrm>
            <a:off x="4541520" y="5768340"/>
            <a:ext cx="3576955" cy="759459"/>
          </a:xfrm>
          <a:prstGeom prst="lef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500619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24A14F-97E0-08F0-1B77-53C3145F15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Rechteck 42">
            <a:extLst>
              <a:ext uri="{FF2B5EF4-FFF2-40B4-BE49-F238E27FC236}">
                <a16:creationId xmlns:a16="http://schemas.microsoft.com/office/drawing/2014/main" id="{BDA02AB1-3F59-293B-85D1-01AD8553B367}"/>
              </a:ext>
            </a:extLst>
          </p:cNvPr>
          <p:cNvSpPr/>
          <p:nvPr/>
        </p:nvSpPr>
        <p:spPr>
          <a:xfrm>
            <a:off x="9448803" y="3345180"/>
            <a:ext cx="2080258" cy="3147694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dirty="0"/>
              <a:t>Hauptfenster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919C10EA-F66D-425E-36C5-7D5308790281}"/>
              </a:ext>
            </a:extLst>
          </p:cNvPr>
          <p:cNvSpPr/>
          <p:nvPr/>
        </p:nvSpPr>
        <p:spPr>
          <a:xfrm>
            <a:off x="4838700" y="1531621"/>
            <a:ext cx="4419600" cy="129302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dirty="0"/>
              <a:t>Anmelde Maske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18C6B5CE-4283-5D9A-23D8-F16431C0AB85}"/>
              </a:ext>
            </a:extLst>
          </p:cNvPr>
          <p:cNvSpPr/>
          <p:nvPr/>
        </p:nvSpPr>
        <p:spPr>
          <a:xfrm>
            <a:off x="844550" y="1992791"/>
            <a:ext cx="2622550" cy="4706459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dirty="0"/>
              <a:t>Datei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214F00C-BEB9-D006-DCA7-BAEE271924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Umsetzung</a:t>
            </a:r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- Entschlüsselung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2849438B-27BD-3705-A1BB-2677A865DA37}"/>
              </a:ext>
            </a:extLst>
          </p:cNvPr>
          <p:cNvSpPr/>
          <p:nvPr/>
        </p:nvSpPr>
        <p:spPr>
          <a:xfrm>
            <a:off x="4373562" y="4052888"/>
            <a:ext cx="4624388" cy="1166811"/>
          </a:xfrm>
          <a:custGeom>
            <a:avLst/>
            <a:gdLst>
              <a:gd name="connsiteX0" fmla="*/ 0 w 4622800"/>
              <a:gd name="connsiteY0" fmla="*/ 0 h 1166811"/>
              <a:gd name="connsiteX1" fmla="*/ 4622800 w 4622800"/>
              <a:gd name="connsiteY1" fmla="*/ 0 h 1166811"/>
              <a:gd name="connsiteX2" fmla="*/ 4622800 w 4622800"/>
              <a:gd name="connsiteY2" fmla="*/ 1166811 h 1166811"/>
              <a:gd name="connsiteX3" fmla="*/ 0 w 4622800"/>
              <a:gd name="connsiteY3" fmla="*/ 1166811 h 1166811"/>
              <a:gd name="connsiteX4" fmla="*/ 0 w 4622800"/>
              <a:gd name="connsiteY4" fmla="*/ 0 h 1166811"/>
              <a:gd name="connsiteX0" fmla="*/ 6350 w 4629150"/>
              <a:gd name="connsiteY0" fmla="*/ 0 h 1166811"/>
              <a:gd name="connsiteX1" fmla="*/ 4629150 w 4629150"/>
              <a:gd name="connsiteY1" fmla="*/ 0 h 1166811"/>
              <a:gd name="connsiteX2" fmla="*/ 4629150 w 4629150"/>
              <a:gd name="connsiteY2" fmla="*/ 1166811 h 1166811"/>
              <a:gd name="connsiteX3" fmla="*/ 6350 w 4629150"/>
              <a:gd name="connsiteY3" fmla="*/ 1166811 h 1166811"/>
              <a:gd name="connsiteX4" fmla="*/ 0 w 4629150"/>
              <a:gd name="connsiteY4" fmla="*/ 931862 h 1166811"/>
              <a:gd name="connsiteX5" fmla="*/ 6350 w 4629150"/>
              <a:gd name="connsiteY5" fmla="*/ 0 h 1166811"/>
              <a:gd name="connsiteX0" fmla="*/ 6350 w 4629150"/>
              <a:gd name="connsiteY0" fmla="*/ 0 h 1166811"/>
              <a:gd name="connsiteX1" fmla="*/ 4629150 w 4629150"/>
              <a:gd name="connsiteY1" fmla="*/ 0 h 1166811"/>
              <a:gd name="connsiteX2" fmla="*/ 4629150 w 4629150"/>
              <a:gd name="connsiteY2" fmla="*/ 1166811 h 1166811"/>
              <a:gd name="connsiteX3" fmla="*/ 6350 w 4629150"/>
              <a:gd name="connsiteY3" fmla="*/ 1166811 h 1166811"/>
              <a:gd name="connsiteX4" fmla="*/ 0 w 4629150"/>
              <a:gd name="connsiteY4" fmla="*/ 341312 h 1166811"/>
              <a:gd name="connsiteX5" fmla="*/ 6350 w 4629150"/>
              <a:gd name="connsiteY5" fmla="*/ 0 h 1166811"/>
              <a:gd name="connsiteX0" fmla="*/ 1588 w 4624388"/>
              <a:gd name="connsiteY0" fmla="*/ 0 h 1166811"/>
              <a:gd name="connsiteX1" fmla="*/ 4624388 w 4624388"/>
              <a:gd name="connsiteY1" fmla="*/ 0 h 1166811"/>
              <a:gd name="connsiteX2" fmla="*/ 4624388 w 4624388"/>
              <a:gd name="connsiteY2" fmla="*/ 1166811 h 1166811"/>
              <a:gd name="connsiteX3" fmla="*/ 1588 w 4624388"/>
              <a:gd name="connsiteY3" fmla="*/ 1166811 h 1166811"/>
              <a:gd name="connsiteX4" fmla="*/ 0 w 4624388"/>
              <a:gd name="connsiteY4" fmla="*/ 341312 h 1166811"/>
              <a:gd name="connsiteX5" fmla="*/ 1588 w 4624388"/>
              <a:gd name="connsiteY5" fmla="*/ 0 h 11668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624388" h="1166811">
                <a:moveTo>
                  <a:pt x="1588" y="0"/>
                </a:moveTo>
                <a:lnTo>
                  <a:pt x="4624388" y="0"/>
                </a:lnTo>
                <a:lnTo>
                  <a:pt x="4624388" y="1166811"/>
                </a:lnTo>
                <a:lnTo>
                  <a:pt x="1588" y="1166811"/>
                </a:lnTo>
                <a:cubicBezTo>
                  <a:pt x="-529" y="891645"/>
                  <a:pt x="2117" y="616478"/>
                  <a:pt x="0" y="341312"/>
                </a:cubicBezTo>
                <a:cubicBezTo>
                  <a:pt x="2117" y="30691"/>
                  <a:pt x="-529" y="310621"/>
                  <a:pt x="1588" y="0"/>
                </a:cubicBez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Entschlüsselung mittels</a:t>
            </a:r>
          </a:p>
          <a:p>
            <a:pPr algn="ctr"/>
            <a:r>
              <a:rPr lang="de-DE" dirty="0"/>
              <a:t>AES256-GCM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06F2827B-8297-F0EA-FD45-9B886500F5DF}"/>
              </a:ext>
            </a:extLst>
          </p:cNvPr>
          <p:cNvSpPr/>
          <p:nvPr/>
        </p:nvSpPr>
        <p:spPr>
          <a:xfrm>
            <a:off x="1200150" y="2501900"/>
            <a:ext cx="1803400" cy="4381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Salt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994389CE-32AA-1628-DD75-6BBFF8EED003}"/>
              </a:ext>
            </a:extLst>
          </p:cNvPr>
          <p:cNvSpPr/>
          <p:nvPr/>
        </p:nvSpPr>
        <p:spPr>
          <a:xfrm>
            <a:off x="1200150" y="3061494"/>
            <a:ext cx="1803400" cy="4381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IV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ED833B69-5A20-83B1-0C6C-825B7D7D965B}"/>
              </a:ext>
            </a:extLst>
          </p:cNvPr>
          <p:cNvSpPr/>
          <p:nvPr/>
        </p:nvSpPr>
        <p:spPr>
          <a:xfrm>
            <a:off x="1200150" y="3618706"/>
            <a:ext cx="1803400" cy="29090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Verschlüsselte</a:t>
            </a:r>
          </a:p>
          <a:p>
            <a:pPr algn="ctr"/>
            <a:r>
              <a:rPr lang="de-DE" dirty="0"/>
              <a:t>Daten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1730D50A-D22C-1AA8-6759-71B9D20CED97}"/>
              </a:ext>
            </a:extLst>
          </p:cNvPr>
          <p:cNvSpPr/>
          <p:nvPr/>
        </p:nvSpPr>
        <p:spPr>
          <a:xfrm>
            <a:off x="7239000" y="2003901"/>
            <a:ext cx="1758950" cy="671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Master</a:t>
            </a:r>
          </a:p>
          <a:p>
            <a:pPr algn="ctr"/>
            <a:r>
              <a:rPr lang="de-DE" dirty="0"/>
              <a:t>Passwort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FFE069DD-118B-E4B3-33C9-A6604BC498FD}"/>
              </a:ext>
            </a:extLst>
          </p:cNvPr>
          <p:cNvSpPr/>
          <p:nvPr/>
        </p:nvSpPr>
        <p:spPr>
          <a:xfrm>
            <a:off x="5791200" y="3066257"/>
            <a:ext cx="3206750" cy="673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Key Ableitung mittels</a:t>
            </a:r>
          </a:p>
          <a:p>
            <a:pPr algn="ctr"/>
            <a:r>
              <a:rPr lang="de-DE" dirty="0"/>
              <a:t>PBKDF2-HMAC-SHA256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4DD0C6F4-E1A8-691E-1482-CE5626E2AA1A}"/>
              </a:ext>
            </a:extLst>
          </p:cNvPr>
          <p:cNvSpPr/>
          <p:nvPr/>
        </p:nvSpPr>
        <p:spPr>
          <a:xfrm>
            <a:off x="9969500" y="4052888"/>
            <a:ext cx="1111250" cy="212407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Klartext</a:t>
            </a:r>
          </a:p>
          <a:p>
            <a:pPr algn="ctr"/>
            <a:r>
              <a:rPr lang="de-DE" dirty="0"/>
              <a:t>Daten</a:t>
            </a:r>
          </a:p>
        </p:txBody>
      </p:sp>
      <p:cxnSp>
        <p:nvCxnSpPr>
          <p:cNvPr id="16" name="Verbinder: gewinkelt 15">
            <a:extLst>
              <a:ext uri="{FF2B5EF4-FFF2-40B4-BE49-F238E27FC236}">
                <a16:creationId xmlns:a16="http://schemas.microsoft.com/office/drawing/2014/main" id="{81234E06-A9F2-93EB-1CAE-E5A447A55000}"/>
              </a:ext>
            </a:extLst>
          </p:cNvPr>
          <p:cNvCxnSpPr>
            <a:cxnSpLocks/>
            <a:stCxn id="5" idx="3"/>
            <a:endCxn id="9" idx="1"/>
          </p:cNvCxnSpPr>
          <p:nvPr/>
        </p:nvCxnSpPr>
        <p:spPr>
          <a:xfrm>
            <a:off x="3003550" y="2720975"/>
            <a:ext cx="2787650" cy="681832"/>
          </a:xfrm>
          <a:prstGeom prst="bentConnector3">
            <a:avLst>
              <a:gd name="adj1" fmla="val 50000"/>
            </a:avLst>
          </a:prstGeom>
          <a:ln w="57150"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29" name="Verbinder: gewinkelt 28">
            <a:extLst>
              <a:ext uri="{FF2B5EF4-FFF2-40B4-BE49-F238E27FC236}">
                <a16:creationId xmlns:a16="http://schemas.microsoft.com/office/drawing/2014/main" id="{D44191E1-B084-398A-7949-679C634281C4}"/>
              </a:ext>
            </a:extLst>
          </p:cNvPr>
          <p:cNvCxnSpPr>
            <a:stCxn id="6" idx="3"/>
          </p:cNvCxnSpPr>
          <p:nvPr/>
        </p:nvCxnSpPr>
        <p:spPr>
          <a:xfrm>
            <a:off x="3003550" y="3280569"/>
            <a:ext cx="1368425" cy="1355724"/>
          </a:xfrm>
          <a:prstGeom prst="bentConnector3">
            <a:avLst/>
          </a:prstGeom>
          <a:ln w="57150"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31" name="Verbinder: gewinkelt 30">
            <a:extLst>
              <a:ext uri="{FF2B5EF4-FFF2-40B4-BE49-F238E27FC236}">
                <a16:creationId xmlns:a16="http://schemas.microsoft.com/office/drawing/2014/main" id="{0B22B8A4-404D-3D63-6BD2-B1B32A387D97}"/>
              </a:ext>
            </a:extLst>
          </p:cNvPr>
          <p:cNvCxnSpPr>
            <a:cxnSpLocks/>
            <a:stCxn id="7" idx="3"/>
          </p:cNvCxnSpPr>
          <p:nvPr/>
        </p:nvCxnSpPr>
        <p:spPr>
          <a:xfrm flipV="1">
            <a:off x="3003550" y="4855368"/>
            <a:ext cx="1365250" cy="217885"/>
          </a:xfrm>
          <a:prstGeom prst="bentConnector3">
            <a:avLst/>
          </a:prstGeom>
          <a:ln w="57150"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38" name="Gerade Verbindung mit Pfeil 37">
            <a:extLst>
              <a:ext uri="{FF2B5EF4-FFF2-40B4-BE49-F238E27FC236}">
                <a16:creationId xmlns:a16="http://schemas.microsoft.com/office/drawing/2014/main" id="{62ADD9B0-7CD7-0A15-9DA8-5A4BC61251D6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8118475" y="2675413"/>
            <a:ext cx="0" cy="386081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D415F915-8103-B9D5-4BFF-3C661F683CE2}"/>
              </a:ext>
            </a:extLst>
          </p:cNvPr>
          <p:cNvCxnSpPr>
            <a:stCxn id="9" idx="2"/>
          </p:cNvCxnSpPr>
          <p:nvPr/>
        </p:nvCxnSpPr>
        <p:spPr>
          <a:xfrm>
            <a:off x="7394575" y="3739357"/>
            <a:ext cx="0" cy="313531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4442EB5E-B1C9-F03B-3C9A-C5248AB1BCAE}"/>
              </a:ext>
            </a:extLst>
          </p:cNvPr>
          <p:cNvCxnSpPr/>
          <p:nvPr/>
        </p:nvCxnSpPr>
        <p:spPr>
          <a:xfrm>
            <a:off x="8997950" y="4636293"/>
            <a:ext cx="971550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49" name="Rechteck 48">
            <a:extLst>
              <a:ext uri="{FF2B5EF4-FFF2-40B4-BE49-F238E27FC236}">
                <a16:creationId xmlns:a16="http://schemas.microsoft.com/office/drawing/2014/main" id="{1A6FB173-7311-233C-B84E-D45721B41DCE}"/>
              </a:ext>
            </a:extLst>
          </p:cNvPr>
          <p:cNvSpPr/>
          <p:nvPr/>
        </p:nvSpPr>
        <p:spPr>
          <a:xfrm>
            <a:off x="5219700" y="1992791"/>
            <a:ext cx="1758950" cy="671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Username</a:t>
            </a:r>
          </a:p>
        </p:txBody>
      </p: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ECFDC101-25A0-E13E-C092-B9F02CCFBEB8}"/>
              </a:ext>
            </a:extLst>
          </p:cNvPr>
          <p:cNvCxnSpPr>
            <a:stCxn id="49" idx="1"/>
          </p:cNvCxnSpPr>
          <p:nvPr/>
        </p:nvCxnSpPr>
        <p:spPr>
          <a:xfrm flipH="1">
            <a:off x="3467100" y="2328547"/>
            <a:ext cx="1752600" cy="1111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52" name="Textfeld 51">
            <a:extLst>
              <a:ext uri="{FF2B5EF4-FFF2-40B4-BE49-F238E27FC236}">
                <a16:creationId xmlns:a16="http://schemas.microsoft.com/office/drawing/2014/main" id="{8ABF5ADD-F6A1-B199-ED18-FBABCDA7B561}"/>
              </a:ext>
            </a:extLst>
          </p:cNvPr>
          <p:cNvSpPr txBox="1"/>
          <p:nvPr/>
        </p:nvSpPr>
        <p:spPr>
          <a:xfrm>
            <a:off x="3602990" y="2010270"/>
            <a:ext cx="12964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 dirty="0"/>
              <a:t>Auswahl Datei</a:t>
            </a:r>
          </a:p>
        </p:txBody>
      </p:sp>
      <p:sp>
        <p:nvSpPr>
          <p:cNvPr id="3" name="Pfeil: nach links 2">
            <a:extLst>
              <a:ext uri="{FF2B5EF4-FFF2-40B4-BE49-F238E27FC236}">
                <a16:creationId xmlns:a16="http://schemas.microsoft.com/office/drawing/2014/main" id="{328B096A-B49E-A1E5-D4CE-E9B3F6A30548}"/>
              </a:ext>
            </a:extLst>
          </p:cNvPr>
          <p:cNvSpPr/>
          <p:nvPr/>
        </p:nvSpPr>
        <p:spPr>
          <a:xfrm rot="10800000">
            <a:off x="4541520" y="5768340"/>
            <a:ext cx="3576955" cy="759459"/>
          </a:xfrm>
          <a:prstGeom prst="lef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01658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007FDD-F578-96F3-717C-B2F13D3035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hteck 24">
            <a:extLst>
              <a:ext uri="{FF2B5EF4-FFF2-40B4-BE49-F238E27FC236}">
                <a16:creationId xmlns:a16="http://schemas.microsoft.com/office/drawing/2014/main" id="{55A0F817-D821-373B-0FB5-9512CEE84DF7}"/>
              </a:ext>
            </a:extLst>
          </p:cNvPr>
          <p:cNvSpPr/>
          <p:nvPr/>
        </p:nvSpPr>
        <p:spPr>
          <a:xfrm>
            <a:off x="448310" y="1734710"/>
            <a:ext cx="4237990" cy="502423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dirty="0">
                <a:solidFill>
                  <a:schemeClr val="tx2">
                    <a:lumMod val="75000"/>
                    <a:lumOff val="25000"/>
                  </a:schemeClr>
                </a:solidFill>
              </a:rPr>
              <a:t>Passwortmanager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3703A7-369E-1A90-7ABC-1FDCE42AF6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Umsetzung</a:t>
            </a:r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- Speicherung der Passwörter (Server)</a:t>
            </a:r>
            <a:endParaRPr lang="de-DE" u="sng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7E894043-D3EA-9303-9B47-B297F2DC5D72}"/>
              </a:ext>
            </a:extLst>
          </p:cNvPr>
          <p:cNvSpPr/>
          <p:nvPr/>
        </p:nvSpPr>
        <p:spPr>
          <a:xfrm>
            <a:off x="844550" y="2933700"/>
            <a:ext cx="2287270" cy="376555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dirty="0"/>
              <a:t>Datei / BLOB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BF8534E5-71D2-F6C8-77D7-696964BB819D}"/>
              </a:ext>
            </a:extLst>
          </p:cNvPr>
          <p:cNvSpPr/>
          <p:nvPr/>
        </p:nvSpPr>
        <p:spPr>
          <a:xfrm>
            <a:off x="1201762" y="3310066"/>
            <a:ext cx="1692069" cy="34346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Salt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B08F3FCA-539C-5F26-6BC3-B6907F9643DA}"/>
              </a:ext>
            </a:extLst>
          </p:cNvPr>
          <p:cNvSpPr/>
          <p:nvPr/>
        </p:nvSpPr>
        <p:spPr>
          <a:xfrm>
            <a:off x="1200150" y="3760805"/>
            <a:ext cx="1693682" cy="34346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IV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43A3DAAC-5BB9-26F6-1080-3F52015CE3C5}"/>
              </a:ext>
            </a:extLst>
          </p:cNvPr>
          <p:cNvSpPr/>
          <p:nvPr/>
        </p:nvSpPr>
        <p:spPr>
          <a:xfrm>
            <a:off x="1200150" y="4247388"/>
            <a:ext cx="1693682" cy="228041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Verschlüsselte</a:t>
            </a:r>
          </a:p>
          <a:p>
            <a:pPr algn="ctr"/>
            <a:r>
              <a:rPr lang="de-DE" dirty="0"/>
              <a:t>Daten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620EF59F-733A-4D24-E3C7-632F07E51557}"/>
              </a:ext>
            </a:extLst>
          </p:cNvPr>
          <p:cNvCxnSpPr>
            <a:cxnSpLocks/>
          </p:cNvCxnSpPr>
          <p:nvPr/>
        </p:nvCxnSpPr>
        <p:spPr>
          <a:xfrm>
            <a:off x="4686300" y="4254166"/>
            <a:ext cx="2689860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13" name="Textfeld 12">
            <a:extLst>
              <a:ext uri="{FF2B5EF4-FFF2-40B4-BE49-F238E27FC236}">
                <a16:creationId xmlns:a16="http://schemas.microsoft.com/office/drawing/2014/main" id="{E2C27403-A117-1793-4E41-CDD43497EBDC}"/>
              </a:ext>
            </a:extLst>
          </p:cNvPr>
          <p:cNvSpPr txBox="1"/>
          <p:nvPr/>
        </p:nvSpPr>
        <p:spPr>
          <a:xfrm>
            <a:off x="5583692" y="3853751"/>
            <a:ext cx="7200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JDBC</a:t>
            </a:r>
          </a:p>
        </p:txBody>
      </p:sp>
      <p:sp>
        <p:nvSpPr>
          <p:cNvPr id="14" name="Flussdiagramm: Magnetplattenspeicher 13">
            <a:extLst>
              <a:ext uri="{FF2B5EF4-FFF2-40B4-BE49-F238E27FC236}">
                <a16:creationId xmlns:a16="http://schemas.microsoft.com/office/drawing/2014/main" id="{71EDC17B-7B70-6BCA-7F9D-07F55F7EEDDD}"/>
              </a:ext>
            </a:extLst>
          </p:cNvPr>
          <p:cNvSpPr/>
          <p:nvPr/>
        </p:nvSpPr>
        <p:spPr>
          <a:xfrm>
            <a:off x="7376160" y="2061371"/>
            <a:ext cx="3421380" cy="4583709"/>
          </a:xfrm>
          <a:prstGeom prst="flowChartMagneticDisk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8ADD7C2C-765C-79DA-7F9B-D779BAA6C795}"/>
              </a:ext>
            </a:extLst>
          </p:cNvPr>
          <p:cNvSpPr txBox="1"/>
          <p:nvPr/>
        </p:nvSpPr>
        <p:spPr>
          <a:xfrm>
            <a:off x="7772400" y="2355959"/>
            <a:ext cx="23622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800" dirty="0">
                <a:solidFill>
                  <a:schemeClr val="bg1"/>
                </a:solidFill>
              </a:rPr>
              <a:t>MySQL</a:t>
            </a:r>
          </a:p>
          <a:p>
            <a:pPr algn="ctr"/>
            <a:r>
              <a:rPr lang="de-DE" sz="2800" dirty="0">
                <a:solidFill>
                  <a:schemeClr val="bg1"/>
                </a:solidFill>
              </a:rPr>
              <a:t>Datenbank</a:t>
            </a: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4D3DA021-4323-8D2C-C58F-1BD5D3E9DDFC}"/>
              </a:ext>
            </a:extLst>
          </p:cNvPr>
          <p:cNvSpPr/>
          <p:nvPr/>
        </p:nvSpPr>
        <p:spPr>
          <a:xfrm>
            <a:off x="1209924" y="2152811"/>
            <a:ext cx="1693681" cy="63610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Username / </a:t>
            </a:r>
            <a:br>
              <a:rPr lang="de-DE" dirty="0"/>
            </a:br>
            <a:r>
              <a:rPr lang="de-DE" dirty="0"/>
              <a:t>accountName</a:t>
            </a:r>
          </a:p>
        </p:txBody>
      </p:sp>
      <p:cxnSp>
        <p:nvCxnSpPr>
          <p:cNvPr id="29" name="Verbinder: gewinkelt 28">
            <a:extLst>
              <a:ext uri="{FF2B5EF4-FFF2-40B4-BE49-F238E27FC236}">
                <a16:creationId xmlns:a16="http://schemas.microsoft.com/office/drawing/2014/main" id="{85A640F8-4D05-1792-BCE8-48BD3130FB2A}"/>
              </a:ext>
            </a:extLst>
          </p:cNvPr>
          <p:cNvCxnSpPr>
            <a:cxnSpLocks/>
            <a:stCxn id="26" idx="3"/>
            <a:endCxn id="25" idx="3"/>
          </p:cNvCxnSpPr>
          <p:nvPr/>
        </p:nvCxnSpPr>
        <p:spPr>
          <a:xfrm>
            <a:off x="2903605" y="2470866"/>
            <a:ext cx="1782695" cy="1775959"/>
          </a:xfrm>
          <a:prstGeom prst="bentConnector3">
            <a:avLst>
              <a:gd name="adj1" fmla="val 46997"/>
            </a:avLst>
          </a:prstGeom>
          <a:ln w="57150">
            <a:headEnd type="none" w="med" len="med"/>
            <a:tailEnd type="none" w="med" len="med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41" name="Verbinder: gewinkelt 40">
            <a:extLst>
              <a:ext uri="{FF2B5EF4-FFF2-40B4-BE49-F238E27FC236}">
                <a16:creationId xmlns:a16="http://schemas.microsoft.com/office/drawing/2014/main" id="{E0ECE4DD-FADD-B5F5-391B-973FE936E7FA}"/>
              </a:ext>
            </a:extLst>
          </p:cNvPr>
          <p:cNvCxnSpPr>
            <a:cxnSpLocks/>
            <a:endCxn id="25" idx="3"/>
          </p:cNvCxnSpPr>
          <p:nvPr/>
        </p:nvCxnSpPr>
        <p:spPr>
          <a:xfrm flipV="1">
            <a:off x="3131820" y="4246825"/>
            <a:ext cx="1554480" cy="476110"/>
          </a:xfrm>
          <a:prstGeom prst="bentConnector3">
            <a:avLst>
              <a:gd name="adj1" fmla="val 39216"/>
            </a:avLst>
          </a:prstGeom>
          <a:ln w="57150">
            <a:headEnd type="none" w="med" len="med"/>
            <a:tailEnd type="none" w="med" len="med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pic>
        <p:nvPicPr>
          <p:cNvPr id="49" name="Grafik 48">
            <a:extLst>
              <a:ext uri="{FF2B5EF4-FFF2-40B4-BE49-F238E27FC236}">
                <a16:creationId xmlns:a16="http://schemas.microsoft.com/office/drawing/2014/main" id="{164D5E9D-96AB-9A05-469E-B17A18E031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2859" y="3760805"/>
            <a:ext cx="2877773" cy="1712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37201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E2E954-15E9-E447-34AD-12C92502B7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C10906-ACDD-7AFE-8BA3-325E4297E1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Umsetzung </a:t>
            </a:r>
            <a:r>
              <a:rPr lang="de-D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Probleme</a:t>
            </a:r>
            <a:endParaRPr lang="de-DE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6BFDCF3-FFA4-1EA1-D381-2110A19057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Implementierung von Buttons (Bearbeiten, Kopieren, Anzeigen) in eine </a:t>
            </a:r>
            <a:r>
              <a:rPr lang="de-DE" dirty="0" err="1"/>
              <a:t>JTable</a:t>
            </a:r>
            <a:endParaRPr lang="de-DE" dirty="0"/>
          </a:p>
          <a:p>
            <a:r>
              <a:rPr lang="de-DE" dirty="0"/>
              <a:t>Generell Dark Mode</a:t>
            </a:r>
          </a:p>
          <a:p>
            <a:r>
              <a:rPr lang="de-DE" dirty="0"/>
              <a:t>Aufteilung von Code in mehrere Files</a:t>
            </a:r>
          </a:p>
        </p:txBody>
      </p:sp>
    </p:spTree>
    <p:extLst>
      <p:ext uri="{BB962C8B-B14F-4D97-AF65-F5344CB8AC3E}">
        <p14:creationId xmlns:p14="http://schemas.microsoft.com/office/powerpoint/2010/main" val="39032021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777BA2B-6314-C13E-8020-90F8CA35B0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Lessions Learned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0B24FDD-F401-C7A6-98F6-6469FF9DFD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Vor dem Start überlegen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de-DE" sz="2000" dirty="0"/>
              <a:t>Aufwändiger Umbau von Passwort-Speicherung in JSON-Datei als Klartext zu Binär Dateien</a:t>
            </a:r>
          </a:p>
          <a:p>
            <a:r>
              <a:rPr lang="de-DE" dirty="0"/>
              <a:t>Alles, was mehrmals verwendet wird in Funktionen packen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de-DE" sz="2000" dirty="0"/>
              <a:t>beim benutzen des Dateinamens beim speichern/laden </a:t>
            </a:r>
            <a:r>
              <a:rPr lang="de-DE" sz="2000" dirty="0">
                <a:sym typeface="Wingdings" panose="05000000000000000000" pitchFamily="2" charset="2"/>
              </a:rPr>
              <a:t> jede Funktion musste geändert werden bei der Umstellung von JSON </a:t>
            </a:r>
            <a:r>
              <a:rPr lang="de-DE" sz="2000">
                <a:sym typeface="Wingdings" panose="05000000000000000000" pitchFamily="2" charset="2"/>
              </a:rPr>
              <a:t>zu Binär</a:t>
            </a:r>
            <a:endParaRPr lang="de-DE" sz="2000" dirty="0">
              <a:sym typeface="Wingdings" panose="05000000000000000000" pitchFamily="2" charset="2"/>
            </a:endParaRPr>
          </a:p>
          <a:p>
            <a:pPr marL="457200" lvl="1" indent="0">
              <a:buNone/>
            </a:pPr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45C9BF98-93C5-432E-75D6-4F604DC2AA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9388" y="4081418"/>
            <a:ext cx="6582112" cy="871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35158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294</Words>
  <Application>Microsoft Office PowerPoint</Application>
  <PresentationFormat>Breitbild</PresentationFormat>
  <Paragraphs>101</Paragraphs>
  <Slides>12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12</vt:i4>
      </vt:variant>
    </vt:vector>
  </HeadingPairs>
  <TitlesOfParts>
    <vt:vector size="17" baseType="lpstr">
      <vt:lpstr>Aptos</vt:lpstr>
      <vt:lpstr>Aptos Display</vt:lpstr>
      <vt:lpstr>Arial</vt:lpstr>
      <vt:lpstr>Wingdings</vt:lpstr>
      <vt:lpstr>Office</vt:lpstr>
      <vt:lpstr>Passwortmanager</vt:lpstr>
      <vt:lpstr>Verwendete Technologien</vt:lpstr>
      <vt:lpstr>Technischer Hintergrund</vt:lpstr>
      <vt:lpstr>Technischer Hintergrund</vt:lpstr>
      <vt:lpstr>Technischer Hintergrund</vt:lpstr>
      <vt:lpstr>Umsetzung - </vt:lpstr>
      <vt:lpstr>Umsetzung - Speicherung der Passwörter (Lokal)</vt:lpstr>
      <vt:lpstr>Umsetzung - Verschlüsselung</vt:lpstr>
      <vt:lpstr>Umsetzung - Entschlüsselung</vt:lpstr>
      <vt:lpstr>Umsetzung - Speicherung der Passwörter (Server)</vt:lpstr>
      <vt:lpstr>Umsetzung - Probleme</vt:lpstr>
      <vt:lpstr>Lessions Learned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niklas.kieslinger@gmail.com</dc:creator>
  <cp:lastModifiedBy>niklas.kieslinger@gmail.com</cp:lastModifiedBy>
  <cp:revision>111</cp:revision>
  <dcterms:created xsi:type="dcterms:W3CDTF">2025-04-14T19:41:51Z</dcterms:created>
  <dcterms:modified xsi:type="dcterms:W3CDTF">2025-06-01T13:32:09Z</dcterms:modified>
</cp:coreProperties>
</file>