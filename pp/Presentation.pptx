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1" r:id="rId5"/>
    <p:sldId id="265" r:id="rId6"/>
    <p:sldId id="266" r:id="rId7"/>
    <p:sldId id="268" r:id="rId8"/>
    <p:sldId id="263" r:id="rId9"/>
    <p:sldId id="267" r:id="rId10"/>
    <p:sldId id="262" r:id="rId11"/>
    <p:sldId id="264" r:id="rId12"/>
    <p:sldId id="260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138" y="15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D49E97-71FD-4B93-A92A-9821E4151A6C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0078F9-8374-48A3-B3BA-E95D6F4ADC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2305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Lokale Version ist </a:t>
            </a:r>
            <a:r>
              <a:rPr lang="de-DE" dirty="0" err="1"/>
              <a:t>akuteller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0078F9-8374-48A3-B3BA-E95D6F4ADC3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36075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03.06.2025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3" name="Rectangle 1041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de-DE" sz="51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de-DE"/>
              <a:t>In JAVA</a:t>
            </a:r>
          </a:p>
          <a:p>
            <a:r>
              <a:rPr lang="de-DE"/>
              <a:t>von Martin &amp; Niklas</a:t>
            </a:r>
          </a:p>
        </p:txBody>
      </p:sp>
      <p:sp>
        <p:nvSpPr>
          <p:cNvPr id="1055" name="Freeform: Shape 1043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6" name="Freeform: Shape 1045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: Shape 1047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0" name="Freeform: Shape 1049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: Shape 1051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 descr="Java - Soziale Medien und Logos Symbole">
            <a:extLst>
              <a:ext uri="{FF2B5EF4-FFF2-40B4-BE49-F238E27FC236}">
                <a16:creationId xmlns:a16="http://schemas.microsoft.com/office/drawing/2014/main" id="{BDD48621-7511-C44E-CC6C-91B263343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Freeform: Shape 1053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FF170-3071-5173-9F09-40F84F10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E8B52-E3A3-85D1-350C-8B5D563D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b="1" u="sng" dirty="0"/>
              <a:t>Client:</a:t>
            </a:r>
          </a:p>
          <a:p>
            <a:r>
              <a:rPr lang="de-DE" sz="2000" dirty="0"/>
              <a:t>AES-256-GCM (für Verschlüsselung der Passwörter)</a:t>
            </a:r>
          </a:p>
          <a:p>
            <a:r>
              <a:rPr lang="de-DE" sz="2000" dirty="0"/>
              <a:t>JSON (zum Speichern der Settings)</a:t>
            </a:r>
          </a:p>
          <a:p>
            <a:r>
              <a:rPr lang="de-DE" sz="2000" dirty="0"/>
              <a:t>Swing UI Designer</a:t>
            </a:r>
          </a:p>
          <a:p>
            <a:r>
              <a:rPr lang="de-DE" sz="2000" dirty="0"/>
              <a:t>Lombok Getter/Setter</a:t>
            </a:r>
          </a:p>
          <a:p>
            <a:r>
              <a:rPr lang="de-DE" sz="2000" dirty="0"/>
              <a:t>MySQL-Connector (JDBC-Driver)</a:t>
            </a:r>
          </a:p>
          <a:p>
            <a:endParaRPr lang="de-DE" sz="2000" dirty="0"/>
          </a:p>
          <a:p>
            <a:pPr marL="0" indent="0">
              <a:buNone/>
            </a:pPr>
            <a:r>
              <a:rPr lang="de-DE" sz="2400" b="1" u="sng" dirty="0"/>
              <a:t>Server:</a:t>
            </a:r>
          </a:p>
          <a:p>
            <a:r>
              <a:rPr lang="de-DE" sz="2000" dirty="0"/>
              <a:t>MySQL Datenbank</a:t>
            </a:r>
          </a:p>
          <a:p>
            <a:r>
              <a:rPr lang="de-DE" sz="2000" dirty="0"/>
              <a:t>Docker Compose</a:t>
            </a:r>
          </a:p>
          <a:p>
            <a:r>
              <a:rPr lang="de-DE" sz="2000" dirty="0"/>
              <a:t>phpMyAdmin (optional </a:t>
            </a:r>
            <a:r>
              <a:rPr lang="de-DE" sz="2000" dirty="0">
                <a:sym typeface="Wingdings" panose="05000000000000000000" pitchFamily="2" charset="2"/>
              </a:rPr>
              <a:t> verwendet zum Debuggen</a:t>
            </a:r>
            <a:r>
              <a:rPr lang="de-DE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32948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80076AE0-7121-27DB-9408-5D7365318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679" y="2272266"/>
            <a:ext cx="2776792" cy="345805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EA0D1DA-378D-202D-A0E0-57A2F7D3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873ED8-0668-62AF-967F-7D83EDF53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Anmelde Maske: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00654F4-C22C-0574-E318-6BF8FAF95321}"/>
              </a:ext>
            </a:extLst>
          </p:cNvPr>
          <p:cNvSpPr/>
          <p:nvPr/>
        </p:nvSpPr>
        <p:spPr>
          <a:xfrm>
            <a:off x="4730750" y="4837667"/>
            <a:ext cx="635000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14AC57B-680C-140C-3C19-47CEF706AD6D}"/>
              </a:ext>
            </a:extLst>
          </p:cNvPr>
          <p:cNvSpPr/>
          <p:nvPr/>
        </p:nvSpPr>
        <p:spPr>
          <a:xfrm>
            <a:off x="4673600" y="5143205"/>
            <a:ext cx="742949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D84E114-D08B-6591-398C-AFE033C665E3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3054350" y="4974192"/>
            <a:ext cx="1676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E2C50C-4AFD-B05F-F87C-09E06ED85648}"/>
              </a:ext>
            </a:extLst>
          </p:cNvPr>
          <p:cNvCxnSpPr/>
          <p:nvPr/>
        </p:nvCxnSpPr>
        <p:spPr>
          <a:xfrm flipH="1" flipV="1">
            <a:off x="3054350" y="5276555"/>
            <a:ext cx="1619250" cy="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183A5621-B4F1-F978-DCB6-2C867D4868F7}"/>
              </a:ext>
            </a:extLst>
          </p:cNvPr>
          <p:cNvSpPr txBox="1"/>
          <p:nvPr/>
        </p:nvSpPr>
        <p:spPr>
          <a:xfrm>
            <a:off x="2197101" y="4855826"/>
            <a:ext cx="857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Anmelden</a:t>
            </a:r>
            <a:endParaRPr lang="de-DE" sz="11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38885D9-1569-BF58-DA51-9E0E1C04FCF4}"/>
              </a:ext>
            </a:extLst>
          </p:cNvPr>
          <p:cNvSpPr txBox="1"/>
          <p:nvPr/>
        </p:nvSpPr>
        <p:spPr>
          <a:xfrm>
            <a:off x="2070100" y="5154645"/>
            <a:ext cx="984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Registrieren</a:t>
            </a:r>
          </a:p>
        </p:txBody>
      </p:sp>
    </p:spTree>
    <p:extLst>
      <p:ext uri="{BB962C8B-B14F-4D97-AF65-F5344CB8AC3E}">
        <p14:creationId xmlns:p14="http://schemas.microsoft.com/office/powerpoint/2010/main" val="1213491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236BE-5340-42D0-57D6-379B335A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B05AD9E-CAED-E793-70BD-248190EAA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050" y="1617741"/>
            <a:ext cx="3679807" cy="496403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4C68866-945E-E942-2163-4C4015646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AEF4E8-7BDB-6C56-2CB7-358AF35A9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Hauptfenster: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E239735-4A51-75B1-8C2A-EAB34587FAFD}"/>
              </a:ext>
            </a:extLst>
          </p:cNvPr>
          <p:cNvGrpSpPr/>
          <p:nvPr/>
        </p:nvGrpSpPr>
        <p:grpSpPr>
          <a:xfrm>
            <a:off x="5389225" y="2846388"/>
            <a:ext cx="2699597" cy="277812"/>
            <a:chOff x="6349153" y="2411307"/>
            <a:chExt cx="2699597" cy="33189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6148E599-BFB3-5B7F-67C2-F7CA944B598E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42868B0-4560-01A6-08DB-151CDB4A983E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787C08C-75D7-182E-A452-E7757B49BBF2}"/>
              </a:ext>
            </a:extLst>
          </p:cNvPr>
          <p:cNvGrpSpPr/>
          <p:nvPr/>
        </p:nvGrpSpPr>
        <p:grpSpPr>
          <a:xfrm>
            <a:off x="5389225" y="2535379"/>
            <a:ext cx="2699597" cy="277812"/>
            <a:chOff x="6349153" y="2411307"/>
            <a:chExt cx="2699597" cy="33189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9033A0C7-D642-3E36-7EA2-701791B9B689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4971A83A-05D4-F292-C1C6-592781D655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888E67D-DC3E-309E-4B57-5765B1561E62}"/>
              </a:ext>
            </a:extLst>
          </p:cNvPr>
          <p:cNvGrpSpPr/>
          <p:nvPr/>
        </p:nvGrpSpPr>
        <p:grpSpPr>
          <a:xfrm>
            <a:off x="5389225" y="3149883"/>
            <a:ext cx="2699597" cy="277812"/>
            <a:chOff x="6349153" y="2411307"/>
            <a:chExt cx="2699597" cy="331893"/>
          </a:xfrm>
        </p:grpSpPr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6B2A247B-52DE-98CA-EFFD-38176E664542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C3FE2A6-0A4E-A4BD-B9E2-355F5D9E1ED6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05D17127-7C74-E0CC-33DA-F8B2800390A2}"/>
              </a:ext>
            </a:extLst>
          </p:cNvPr>
          <p:cNvSpPr txBox="1"/>
          <p:nvPr/>
        </p:nvSpPr>
        <p:spPr>
          <a:xfrm>
            <a:off x="3420091" y="2407813"/>
            <a:ext cx="20521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Name des Eintrags </a:t>
            </a:r>
            <a:r>
              <a:rPr lang="de-DE" sz="1100" dirty="0">
                <a:sym typeface="Wingdings" panose="05000000000000000000" pitchFamily="2" charset="2"/>
              </a:rPr>
              <a:t> z.B. </a:t>
            </a:r>
          </a:p>
          <a:p>
            <a:r>
              <a:rPr lang="de-DE" sz="1100" dirty="0">
                <a:sym typeface="Wingdings" panose="05000000000000000000" pitchFamily="2" charset="2"/>
              </a:rPr>
              <a:t>Google Account</a:t>
            </a:r>
            <a:endParaRPr lang="de-DE" sz="11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90C1C90-55A7-4B19-A886-6D8CBA5E20FE}"/>
              </a:ext>
            </a:extLst>
          </p:cNvPr>
          <p:cNvSpPr txBox="1"/>
          <p:nvPr/>
        </p:nvSpPr>
        <p:spPr>
          <a:xfrm>
            <a:off x="3420091" y="2794141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Nutzername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max.mustermann@email.com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9EAC7FD-589E-DBAD-0D11-67A92A705FEF}"/>
              </a:ext>
            </a:extLst>
          </p:cNvPr>
          <p:cNvSpPr txBox="1"/>
          <p:nvPr/>
        </p:nvSpPr>
        <p:spPr>
          <a:xfrm>
            <a:off x="3420091" y="3149033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max1234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235D844-1836-39E1-7252-326073FC96EF}"/>
              </a:ext>
            </a:extLst>
          </p:cNvPr>
          <p:cNvSpPr/>
          <p:nvPr/>
        </p:nvSpPr>
        <p:spPr>
          <a:xfrm>
            <a:off x="6164772" y="3457007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840FC459-2ECA-280E-4EFF-DF2AE09B8C7A}"/>
              </a:ext>
            </a:extLst>
          </p:cNvPr>
          <p:cNvCxnSpPr>
            <a:stCxn id="30" idx="1"/>
          </p:cNvCxnSpPr>
          <p:nvPr/>
        </p:nvCxnSpPr>
        <p:spPr>
          <a:xfrm rot="10800000" flipV="1">
            <a:off x="4640772" y="3643566"/>
            <a:ext cx="1524000" cy="687133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DF263DE-56A9-9FFD-86FE-6DBB54FEF719}"/>
              </a:ext>
            </a:extLst>
          </p:cNvPr>
          <p:cNvSpPr txBox="1"/>
          <p:nvPr/>
        </p:nvSpPr>
        <p:spPr>
          <a:xfrm>
            <a:off x="3173919" y="4197676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 generieren</a:t>
            </a:r>
            <a:endParaRPr lang="de-DE" sz="1100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5F1E123-D841-A3BF-C805-C3DE5659E5DD}"/>
              </a:ext>
            </a:extLst>
          </p:cNvPr>
          <p:cNvSpPr/>
          <p:nvPr/>
        </p:nvSpPr>
        <p:spPr>
          <a:xfrm>
            <a:off x="7334020" y="34563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0C79A98A-1CB1-CCE5-1DCF-C619A70D08DB}"/>
              </a:ext>
            </a:extLst>
          </p:cNvPr>
          <p:cNvCxnSpPr>
            <a:stCxn id="36" idx="2"/>
          </p:cNvCxnSpPr>
          <p:nvPr/>
        </p:nvCxnSpPr>
        <p:spPr>
          <a:xfrm rot="5400000">
            <a:off x="5628826" y="2841405"/>
            <a:ext cx="983841" cy="2959949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A393AB46-661A-289D-DE8B-108792BFC456}"/>
              </a:ext>
            </a:extLst>
          </p:cNvPr>
          <p:cNvSpPr txBox="1"/>
          <p:nvPr/>
        </p:nvSpPr>
        <p:spPr>
          <a:xfrm>
            <a:off x="3173919" y="4612059"/>
            <a:ext cx="15240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Eintrag zur Tabelle hinzufügen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91FDF8E-FA3B-5B83-63F6-1789A9DDFD22}"/>
              </a:ext>
            </a:extLst>
          </p:cNvPr>
          <p:cNvSpPr/>
          <p:nvPr/>
        </p:nvSpPr>
        <p:spPr>
          <a:xfrm>
            <a:off x="8512582" y="34563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55A7CAB-F8C7-4DB5-5370-2CCDA5068410}"/>
              </a:ext>
            </a:extLst>
          </p:cNvPr>
          <p:cNvCxnSpPr>
            <a:stCxn id="40" idx="2"/>
          </p:cNvCxnSpPr>
          <p:nvPr/>
        </p:nvCxnSpPr>
        <p:spPr>
          <a:xfrm rot="5400000">
            <a:off x="5872031" y="2598198"/>
            <a:ext cx="1675991" cy="413851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A8CDFBDF-F4FB-5185-6870-1C3667393DCA}"/>
              </a:ext>
            </a:extLst>
          </p:cNvPr>
          <p:cNvSpPr txBox="1"/>
          <p:nvPr/>
        </p:nvSpPr>
        <p:spPr>
          <a:xfrm>
            <a:off x="3173919" y="5358663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Speichern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2B8115E-0953-E051-9875-D05B6E82449E}"/>
              </a:ext>
            </a:extLst>
          </p:cNvPr>
          <p:cNvSpPr/>
          <p:nvPr/>
        </p:nvSpPr>
        <p:spPr>
          <a:xfrm>
            <a:off x="9166632" y="1870455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8113F61-9816-8E62-E320-9BFC369EAE19}"/>
              </a:ext>
            </a:extLst>
          </p:cNvPr>
          <p:cNvCxnSpPr>
            <a:stCxn id="44" idx="3"/>
          </p:cNvCxnSpPr>
          <p:nvPr/>
        </p:nvCxnSpPr>
        <p:spPr>
          <a:xfrm>
            <a:off x="9700032" y="2057015"/>
            <a:ext cx="630340" cy="18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998C608F-4EC4-4354-B46A-637DF474582D}"/>
              </a:ext>
            </a:extLst>
          </p:cNvPr>
          <p:cNvSpPr txBox="1"/>
          <p:nvPr/>
        </p:nvSpPr>
        <p:spPr>
          <a:xfrm>
            <a:off x="10317882" y="1917771"/>
            <a:ext cx="1603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Abmelden</a:t>
            </a:r>
            <a:endParaRPr lang="de-DE" sz="11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D5362C9-BC8C-5B4E-27BF-38A0E4D9A0A6}"/>
              </a:ext>
            </a:extLst>
          </p:cNvPr>
          <p:cNvSpPr/>
          <p:nvPr/>
        </p:nvSpPr>
        <p:spPr>
          <a:xfrm>
            <a:off x="9166632" y="2234765"/>
            <a:ext cx="533400" cy="2208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C41DFC2-515B-93CA-D780-67804947BF3B}"/>
              </a:ext>
            </a:extLst>
          </p:cNvPr>
          <p:cNvCxnSpPr>
            <a:stCxn id="48" idx="3"/>
          </p:cNvCxnSpPr>
          <p:nvPr/>
        </p:nvCxnSpPr>
        <p:spPr>
          <a:xfrm flipV="1">
            <a:off x="9700032" y="2343150"/>
            <a:ext cx="630340" cy="2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9C4DE44E-8EA1-FC25-84C5-96E10F5F5C6C}"/>
              </a:ext>
            </a:extLst>
          </p:cNvPr>
          <p:cNvSpPr txBox="1"/>
          <p:nvPr/>
        </p:nvSpPr>
        <p:spPr>
          <a:xfrm>
            <a:off x="10330373" y="2198153"/>
            <a:ext cx="15568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Einstellungen</a:t>
            </a:r>
            <a:endParaRPr lang="de-DE" sz="11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328697A-5361-5743-C649-5327230C5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348"/>
          <a:stretch/>
        </p:blipFill>
        <p:spPr>
          <a:xfrm>
            <a:off x="6096000" y="1620955"/>
            <a:ext cx="3679807" cy="495447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42DFE33D-AF1B-FF7B-1E37-E4EDCFF56738}"/>
              </a:ext>
            </a:extLst>
          </p:cNvPr>
          <p:cNvSpPr txBox="1"/>
          <p:nvPr/>
        </p:nvSpPr>
        <p:spPr>
          <a:xfrm>
            <a:off x="3173919" y="1692248"/>
            <a:ext cx="262763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Wenn die Lokale Version aktueller ist</a:t>
            </a:r>
          </a:p>
          <a:p>
            <a:r>
              <a:rPr lang="de-DE" sz="1100" dirty="0">
                <a:sym typeface="Wingdings" panose="05000000000000000000" pitchFamily="2" charset="2"/>
              </a:rPr>
              <a:t> Meldung wird angezeigt + Button zum </a:t>
            </a:r>
            <a:r>
              <a:rPr lang="de-DE" sz="1100" dirty="0" err="1">
                <a:sym typeface="Wingdings" panose="05000000000000000000" pitchFamily="2" charset="2"/>
              </a:rPr>
              <a:t>Sync</a:t>
            </a:r>
            <a:r>
              <a:rPr lang="de-DE" sz="1100" dirty="0">
                <a:sym typeface="Wingdings" panose="05000000000000000000" pitchFamily="2" charset="2"/>
              </a:rPr>
              <a:t>/Push auf Server</a:t>
            </a:r>
            <a:endParaRPr lang="de-DE" sz="1100" dirty="0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18BC7408-4842-EFF6-FD5D-877C2CD5A1F4}"/>
              </a:ext>
            </a:extLst>
          </p:cNvPr>
          <p:cNvGrpSpPr/>
          <p:nvPr/>
        </p:nvGrpSpPr>
        <p:grpSpPr>
          <a:xfrm>
            <a:off x="5801551" y="1992330"/>
            <a:ext cx="3244431" cy="1837128"/>
            <a:chOff x="5801551" y="1992330"/>
            <a:chExt cx="3244431" cy="1837128"/>
          </a:xfrm>
        </p:grpSpPr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CF32FD1A-5226-F689-F43B-C2863D64066E}"/>
                </a:ext>
              </a:extLst>
            </p:cNvPr>
            <p:cNvGrpSpPr/>
            <p:nvPr/>
          </p:nvGrpSpPr>
          <p:grpSpPr>
            <a:xfrm>
              <a:off x="5801551" y="1992330"/>
              <a:ext cx="1532469" cy="463296"/>
              <a:chOff x="5801551" y="1992330"/>
              <a:chExt cx="1532469" cy="463296"/>
            </a:xfrm>
          </p:grpSpPr>
          <p:cxnSp>
            <p:nvCxnSpPr>
              <p:cNvPr id="45" name="Verbinder: gewinkelt 44">
                <a:extLst>
                  <a:ext uri="{FF2B5EF4-FFF2-40B4-BE49-F238E27FC236}">
                    <a16:creationId xmlns:a16="http://schemas.microsoft.com/office/drawing/2014/main" id="{18FA68F0-B7D3-23BC-B9FD-D8458B03A5F1}"/>
                  </a:ext>
                </a:extLst>
              </p:cNvPr>
              <p:cNvCxnSpPr>
                <a:stCxn id="9" idx="3"/>
              </p:cNvCxnSpPr>
              <p:nvPr/>
            </p:nvCxnSpPr>
            <p:spPr>
              <a:xfrm>
                <a:off x="5801551" y="1992330"/>
                <a:ext cx="363221" cy="350820"/>
              </a:xfrm>
              <a:prstGeom prst="bentConnector3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9D68DAA8-FB6F-6393-1842-4260728A7BDB}"/>
                  </a:ext>
                </a:extLst>
              </p:cNvPr>
              <p:cNvSpPr/>
              <p:nvPr/>
            </p:nvSpPr>
            <p:spPr>
              <a:xfrm>
                <a:off x="6164772" y="2203023"/>
                <a:ext cx="1169248" cy="252603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E63AA309-BDBB-CBF7-8659-68F5FC4904C3}"/>
                </a:ext>
              </a:extLst>
            </p:cNvPr>
            <p:cNvSpPr/>
            <p:nvPr/>
          </p:nvSpPr>
          <p:spPr>
            <a:xfrm>
              <a:off x="8512582" y="3456339"/>
              <a:ext cx="533400" cy="37311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5" name="Verbinder: gewinkelt 54">
              <a:extLst>
                <a:ext uri="{FF2B5EF4-FFF2-40B4-BE49-F238E27FC236}">
                  <a16:creationId xmlns:a16="http://schemas.microsoft.com/office/drawing/2014/main" id="{D8BCA1AE-5BC4-747F-4CFD-E271C899E347}"/>
                </a:ext>
              </a:extLst>
            </p:cNvPr>
            <p:cNvCxnSpPr>
              <a:stCxn id="49" idx="3"/>
              <a:endCxn id="53" idx="0"/>
            </p:cNvCxnSpPr>
            <p:nvPr/>
          </p:nvCxnSpPr>
          <p:spPr>
            <a:xfrm>
              <a:off x="7334020" y="2329325"/>
              <a:ext cx="1445262" cy="1127014"/>
            </a:xfrm>
            <a:prstGeom prst="bentConnector2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0352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02E7C-6FFF-C082-1FFE-A4950742F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CFA9F2-8837-E5B6-8425-5CC48C8FD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038C3A-873E-3845-090C-C8FA4418A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Menüs: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B440944-E5DC-1BC6-D703-4F22D59C4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499" y="2647925"/>
            <a:ext cx="4157301" cy="2811463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9976416-CB38-BC47-5E4A-27EB4F6D3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754" y="3102185"/>
            <a:ext cx="4553192" cy="190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906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4532F-50B0-3C8E-A519-894B989F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05FA3B-82EF-9F9C-6B48-7B00C9A56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Masterpasswort ändern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79E0B17C-7A64-964E-73A8-82FB686227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4450" y="1690688"/>
            <a:ext cx="7023100" cy="4598970"/>
          </a:xfrm>
        </p:spPr>
      </p:pic>
    </p:spTree>
    <p:extLst>
      <p:ext uri="{BB962C8B-B14F-4D97-AF65-F5344CB8AC3E}">
        <p14:creationId xmlns:p14="http://schemas.microsoft.com/office/powerpoint/2010/main" val="2043039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C856B-C94A-8659-2E9E-13F4DCAF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BAB5E7-B0B9-1F07-CD2F-3DB95654A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 (Lokal)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E3C59E-41A5-6182-4152-63CC4FC1C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z="2000" b="1" dirty="0"/>
              <a:t>Allgemein:</a:t>
            </a:r>
          </a:p>
          <a:p>
            <a:pPr lvl="1"/>
            <a:r>
              <a:rPr lang="de-DE" sz="1600" b="1" dirty="0"/>
              <a:t>Passwörter werden als eine Binär Datei pro Benutzer abgespeichert</a:t>
            </a:r>
          </a:p>
          <a:p>
            <a:pPr lvl="1"/>
            <a:r>
              <a:rPr lang="de-DE" sz="1600" b="1" dirty="0"/>
              <a:t>Ersten 16 Byte = Salt</a:t>
            </a:r>
          </a:p>
          <a:p>
            <a:pPr lvl="1"/>
            <a:r>
              <a:rPr lang="de-DE" sz="1600" b="1" dirty="0"/>
              <a:t>Zweiten 16 Byte = IV (Initialisierungsvektor)</a:t>
            </a:r>
          </a:p>
          <a:p>
            <a:pPr lvl="1"/>
            <a:r>
              <a:rPr lang="de-DE" sz="1600" b="1" dirty="0"/>
              <a:t>Rest = Daten (Passwörter)</a:t>
            </a:r>
          </a:p>
        </p:txBody>
      </p:sp>
      <p:pic>
        <p:nvPicPr>
          <p:cNvPr id="31" name="Grafik 30" descr="Ein Bild, das Text, Screenshot, Schrift, Software enthält.&#10;&#10;KI-generierte Inhalte können fehlerhaft sein.">
            <a:extLst>
              <a:ext uri="{FF2B5EF4-FFF2-40B4-BE49-F238E27FC236}">
                <a16:creationId xmlns:a16="http://schemas.microsoft.com/office/drawing/2014/main" id="{921E9BFB-BD00-B3F0-E368-6188D922F5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5" name="Grafik 34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9A23F0DC-5C2C-7941-DB40-D4DC5A70B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3" name="Grafik 32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28E12E63-17DD-BFF8-23EF-9B0509ED2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7" name="Grafik 36" descr="Ein Bild, das Text, Screenshot, Software, Computersymbol enthält.&#10;&#10;KI-generierte Inhalte können fehlerhaft sein.">
            <a:extLst>
              <a:ext uri="{FF2B5EF4-FFF2-40B4-BE49-F238E27FC236}">
                <a16:creationId xmlns:a16="http://schemas.microsoft.com/office/drawing/2014/main" id="{B4E23959-F7B7-B118-2481-D82CDBF041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1"/>
            <a:ext cx="6745474" cy="245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340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F335A-FDF6-4F22-13CA-08ED29DA5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55442D66-9D20-BED2-65CE-AF06167F338A}"/>
              </a:ext>
            </a:extLst>
          </p:cNvPr>
          <p:cNvSpPr/>
          <p:nvPr/>
        </p:nvSpPr>
        <p:spPr>
          <a:xfrm>
            <a:off x="9448803" y="3345180"/>
            <a:ext cx="2080258" cy="314769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Hauptfenster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6E42FAA-740A-F474-5731-C146C9DE1E1E}"/>
              </a:ext>
            </a:extLst>
          </p:cNvPr>
          <p:cNvSpPr/>
          <p:nvPr/>
        </p:nvSpPr>
        <p:spPr>
          <a:xfrm>
            <a:off x="4838700" y="1531621"/>
            <a:ext cx="4419600" cy="129302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Anmelde Maske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B11FFC5-91C5-0BA4-1BD8-6BAA5617AF0F}"/>
              </a:ext>
            </a:extLst>
          </p:cNvPr>
          <p:cNvSpPr/>
          <p:nvPr/>
        </p:nvSpPr>
        <p:spPr>
          <a:xfrm>
            <a:off x="844550" y="1992791"/>
            <a:ext cx="2622550" cy="470645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3531C2-260F-3E4A-71D3-613883B29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Verschlüsselung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A4FFCB1-7B71-2568-52FD-19DDB9FDCD2F}"/>
              </a:ext>
            </a:extLst>
          </p:cNvPr>
          <p:cNvSpPr/>
          <p:nvPr/>
        </p:nvSpPr>
        <p:spPr>
          <a:xfrm>
            <a:off x="4373562" y="4052888"/>
            <a:ext cx="4624388" cy="1166811"/>
          </a:xfrm>
          <a:custGeom>
            <a:avLst/>
            <a:gdLst>
              <a:gd name="connsiteX0" fmla="*/ 0 w 4622800"/>
              <a:gd name="connsiteY0" fmla="*/ 0 h 1166811"/>
              <a:gd name="connsiteX1" fmla="*/ 4622800 w 4622800"/>
              <a:gd name="connsiteY1" fmla="*/ 0 h 1166811"/>
              <a:gd name="connsiteX2" fmla="*/ 4622800 w 4622800"/>
              <a:gd name="connsiteY2" fmla="*/ 1166811 h 1166811"/>
              <a:gd name="connsiteX3" fmla="*/ 0 w 4622800"/>
              <a:gd name="connsiteY3" fmla="*/ 1166811 h 1166811"/>
              <a:gd name="connsiteX4" fmla="*/ 0 w 4622800"/>
              <a:gd name="connsiteY4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931862 h 1166811"/>
              <a:gd name="connsiteX5" fmla="*/ 6350 w 4629150"/>
              <a:gd name="connsiteY5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341312 h 1166811"/>
              <a:gd name="connsiteX5" fmla="*/ 6350 w 4629150"/>
              <a:gd name="connsiteY5" fmla="*/ 0 h 1166811"/>
              <a:gd name="connsiteX0" fmla="*/ 1588 w 4624388"/>
              <a:gd name="connsiteY0" fmla="*/ 0 h 1166811"/>
              <a:gd name="connsiteX1" fmla="*/ 4624388 w 4624388"/>
              <a:gd name="connsiteY1" fmla="*/ 0 h 1166811"/>
              <a:gd name="connsiteX2" fmla="*/ 4624388 w 4624388"/>
              <a:gd name="connsiteY2" fmla="*/ 1166811 h 1166811"/>
              <a:gd name="connsiteX3" fmla="*/ 1588 w 4624388"/>
              <a:gd name="connsiteY3" fmla="*/ 1166811 h 1166811"/>
              <a:gd name="connsiteX4" fmla="*/ 0 w 4624388"/>
              <a:gd name="connsiteY4" fmla="*/ 341312 h 1166811"/>
              <a:gd name="connsiteX5" fmla="*/ 1588 w 4624388"/>
              <a:gd name="connsiteY5" fmla="*/ 0 h 1166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24388" h="1166811">
                <a:moveTo>
                  <a:pt x="1588" y="0"/>
                </a:moveTo>
                <a:lnTo>
                  <a:pt x="4624388" y="0"/>
                </a:lnTo>
                <a:lnTo>
                  <a:pt x="4624388" y="1166811"/>
                </a:lnTo>
                <a:lnTo>
                  <a:pt x="1588" y="1166811"/>
                </a:lnTo>
                <a:cubicBezTo>
                  <a:pt x="-529" y="891645"/>
                  <a:pt x="2117" y="616478"/>
                  <a:pt x="0" y="341312"/>
                </a:cubicBezTo>
                <a:cubicBezTo>
                  <a:pt x="2117" y="30691"/>
                  <a:pt x="-529" y="310621"/>
                  <a:pt x="15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Verschlüsselung mittels</a:t>
            </a:r>
          </a:p>
          <a:p>
            <a:pPr algn="ctr"/>
            <a:r>
              <a:rPr lang="de-DE" dirty="0"/>
              <a:t>AES256-GCM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B5B6B37-D552-6555-AA15-7D01359DDAAD}"/>
              </a:ext>
            </a:extLst>
          </p:cNvPr>
          <p:cNvSpPr/>
          <p:nvPr/>
        </p:nvSpPr>
        <p:spPr>
          <a:xfrm>
            <a:off x="1200150" y="2501900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B22EE3A-4E53-C6A4-9036-0FDC4596957B}"/>
              </a:ext>
            </a:extLst>
          </p:cNvPr>
          <p:cNvSpPr/>
          <p:nvPr/>
        </p:nvSpPr>
        <p:spPr>
          <a:xfrm>
            <a:off x="1200150" y="3061494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4210BBF-EEA9-6490-B445-193CBD322B55}"/>
              </a:ext>
            </a:extLst>
          </p:cNvPr>
          <p:cNvSpPr/>
          <p:nvPr/>
        </p:nvSpPr>
        <p:spPr>
          <a:xfrm>
            <a:off x="1200150" y="3618706"/>
            <a:ext cx="1803400" cy="290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B83E9CE-2092-21E9-3B48-06142B90B997}"/>
              </a:ext>
            </a:extLst>
          </p:cNvPr>
          <p:cNvSpPr/>
          <p:nvPr/>
        </p:nvSpPr>
        <p:spPr>
          <a:xfrm>
            <a:off x="7239000" y="200390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Master</a:t>
            </a:r>
          </a:p>
          <a:p>
            <a:pPr algn="ctr"/>
            <a:r>
              <a:rPr lang="de-DE" dirty="0"/>
              <a:t>Passwort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ED52332-0F5E-4EE6-0EE9-46F8A824BF04}"/>
              </a:ext>
            </a:extLst>
          </p:cNvPr>
          <p:cNvSpPr/>
          <p:nvPr/>
        </p:nvSpPr>
        <p:spPr>
          <a:xfrm>
            <a:off x="5791200" y="3066257"/>
            <a:ext cx="3206750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Key Ableitung mittels</a:t>
            </a:r>
          </a:p>
          <a:p>
            <a:pPr algn="ctr"/>
            <a:r>
              <a:rPr lang="de-DE" dirty="0"/>
              <a:t>PBKDF2-HMAC-SHA256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DC6B56-3A3C-58F9-2397-24E63B04E08D}"/>
              </a:ext>
            </a:extLst>
          </p:cNvPr>
          <p:cNvSpPr/>
          <p:nvPr/>
        </p:nvSpPr>
        <p:spPr>
          <a:xfrm>
            <a:off x="9969500" y="4052888"/>
            <a:ext cx="1111250" cy="2124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Klartext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2F36659F-4F1B-5679-40DC-E2568ED209DF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003550" y="2720975"/>
            <a:ext cx="1182688" cy="506414"/>
          </a:xfrm>
          <a:prstGeom prst="bentConnector3">
            <a:avLst>
              <a:gd name="adj1" fmla="val 61597"/>
            </a:avLst>
          </a:prstGeom>
          <a:ln w="571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26082CC4-49B8-8B7F-8EE6-50D815B71D2D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>
            <a:off x="3003550" y="3280569"/>
            <a:ext cx="1177929" cy="117475"/>
          </a:xfrm>
          <a:prstGeom prst="bentConnector3">
            <a:avLst/>
          </a:prstGeom>
          <a:ln w="571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6E27F0B3-0E02-675C-E99F-2D807275383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003550" y="4855368"/>
            <a:ext cx="1365250" cy="217885"/>
          </a:xfrm>
          <a:prstGeom prst="bentConnector3">
            <a:avLst/>
          </a:prstGeom>
          <a:ln w="57150"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44C0A11-B705-C721-D27D-DA7719E39C2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118475" y="2675413"/>
            <a:ext cx="0" cy="38608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2A7D50FC-0369-A4A9-5474-818F88DFED03}"/>
              </a:ext>
            </a:extLst>
          </p:cNvPr>
          <p:cNvCxnSpPr>
            <a:stCxn id="9" idx="2"/>
          </p:cNvCxnSpPr>
          <p:nvPr/>
        </p:nvCxnSpPr>
        <p:spPr>
          <a:xfrm>
            <a:off x="7394575" y="3739357"/>
            <a:ext cx="0" cy="3135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DE5B91FB-EAFB-D760-0DF8-7694B2F84516}"/>
              </a:ext>
            </a:extLst>
          </p:cNvPr>
          <p:cNvCxnSpPr/>
          <p:nvPr/>
        </p:nvCxnSpPr>
        <p:spPr>
          <a:xfrm>
            <a:off x="8997950" y="4636293"/>
            <a:ext cx="971550" cy="0"/>
          </a:xfrm>
          <a:prstGeom prst="straightConnector1">
            <a:avLst/>
          </a:prstGeom>
          <a:ln w="57150"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F525E0AF-05BA-4D6E-2752-F2FF14AEECC7}"/>
              </a:ext>
            </a:extLst>
          </p:cNvPr>
          <p:cNvSpPr/>
          <p:nvPr/>
        </p:nvSpPr>
        <p:spPr>
          <a:xfrm>
            <a:off x="5219700" y="199279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E0094C3E-561E-1E15-E56C-83A4A9724F4F}"/>
              </a:ext>
            </a:extLst>
          </p:cNvPr>
          <p:cNvCxnSpPr>
            <a:stCxn id="49" idx="1"/>
          </p:cNvCxnSpPr>
          <p:nvPr/>
        </p:nvCxnSpPr>
        <p:spPr>
          <a:xfrm flipH="1">
            <a:off x="3467100" y="2328547"/>
            <a:ext cx="1752600" cy="111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4FEADF0C-8A4A-FB74-E91A-29514645F116}"/>
              </a:ext>
            </a:extLst>
          </p:cNvPr>
          <p:cNvSpPr txBox="1"/>
          <p:nvPr/>
        </p:nvSpPr>
        <p:spPr>
          <a:xfrm>
            <a:off x="3658569" y="1796515"/>
            <a:ext cx="1180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dirty="0"/>
              <a:t>Generierung </a:t>
            </a:r>
          </a:p>
          <a:p>
            <a:pPr algn="ctr"/>
            <a:r>
              <a:rPr lang="de-DE" sz="1400" dirty="0"/>
              <a:t>Datei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D16D9BC-85B3-2266-047B-5166E862DEBA}"/>
              </a:ext>
            </a:extLst>
          </p:cNvPr>
          <p:cNvSpPr/>
          <p:nvPr/>
        </p:nvSpPr>
        <p:spPr>
          <a:xfrm>
            <a:off x="4181479" y="3061494"/>
            <a:ext cx="1335087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Generiere</a:t>
            </a:r>
          </a:p>
          <a:p>
            <a:pPr algn="ctr"/>
            <a:r>
              <a:rPr lang="de-DE" dirty="0"/>
              <a:t>IV + Salt</a:t>
            </a:r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B5966B15-5481-24DC-73BB-0A04D53D6366}"/>
              </a:ext>
            </a:extLst>
          </p:cNvPr>
          <p:cNvCxnSpPr/>
          <p:nvPr/>
        </p:nvCxnSpPr>
        <p:spPr>
          <a:xfrm>
            <a:off x="4579620" y="3751265"/>
            <a:ext cx="0" cy="30162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71D6C7FC-B508-0E39-D8F5-561DFED9FA6B}"/>
              </a:ext>
            </a:extLst>
          </p:cNvPr>
          <p:cNvCxnSpPr>
            <a:cxnSpLocks/>
          </p:cNvCxnSpPr>
          <p:nvPr/>
        </p:nvCxnSpPr>
        <p:spPr>
          <a:xfrm>
            <a:off x="5516566" y="3550444"/>
            <a:ext cx="274634" cy="476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86388E3E-0F6E-7F4C-537E-C7FA18E4A972}"/>
              </a:ext>
            </a:extLst>
          </p:cNvPr>
          <p:cNvSpPr txBox="1"/>
          <p:nvPr/>
        </p:nvSpPr>
        <p:spPr>
          <a:xfrm>
            <a:off x="3686175" y="2813214"/>
            <a:ext cx="79060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</a:rPr>
              <a:t>speichern</a:t>
            </a:r>
          </a:p>
        </p:txBody>
      </p:sp>
      <p:sp>
        <p:nvSpPr>
          <p:cNvPr id="66" name="Pfeil: nach links 65">
            <a:extLst>
              <a:ext uri="{FF2B5EF4-FFF2-40B4-BE49-F238E27FC236}">
                <a16:creationId xmlns:a16="http://schemas.microsoft.com/office/drawing/2014/main" id="{BEE5362A-9925-4F43-C915-2512281AA4FB}"/>
              </a:ext>
            </a:extLst>
          </p:cNvPr>
          <p:cNvSpPr/>
          <p:nvPr/>
        </p:nvSpPr>
        <p:spPr>
          <a:xfrm>
            <a:off x="4541520" y="5768340"/>
            <a:ext cx="3576955" cy="759459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0061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A14F-97E0-08F0-1B77-53C3145F1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BDA02AB1-3F59-293B-85D1-01AD8553B367}"/>
              </a:ext>
            </a:extLst>
          </p:cNvPr>
          <p:cNvSpPr/>
          <p:nvPr/>
        </p:nvSpPr>
        <p:spPr>
          <a:xfrm>
            <a:off x="9448803" y="3345180"/>
            <a:ext cx="2080258" cy="314769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Hauptfenster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9C10EA-F66D-425E-36C5-7D5308790281}"/>
              </a:ext>
            </a:extLst>
          </p:cNvPr>
          <p:cNvSpPr/>
          <p:nvPr/>
        </p:nvSpPr>
        <p:spPr>
          <a:xfrm>
            <a:off x="4838700" y="1531621"/>
            <a:ext cx="4419600" cy="129302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Anmelde Maske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8C6B5CE-4283-5D9A-23D8-F16431C0AB85}"/>
              </a:ext>
            </a:extLst>
          </p:cNvPr>
          <p:cNvSpPr/>
          <p:nvPr/>
        </p:nvSpPr>
        <p:spPr>
          <a:xfrm>
            <a:off x="844550" y="1992791"/>
            <a:ext cx="2622550" cy="470645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14F00C-BEB9-D006-DCA7-BAEE2719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Entschlüsselung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849438B-27BD-3705-A1BB-2677A865DA37}"/>
              </a:ext>
            </a:extLst>
          </p:cNvPr>
          <p:cNvSpPr/>
          <p:nvPr/>
        </p:nvSpPr>
        <p:spPr>
          <a:xfrm>
            <a:off x="4373562" y="4052888"/>
            <a:ext cx="4624388" cy="1166811"/>
          </a:xfrm>
          <a:custGeom>
            <a:avLst/>
            <a:gdLst>
              <a:gd name="connsiteX0" fmla="*/ 0 w 4622800"/>
              <a:gd name="connsiteY0" fmla="*/ 0 h 1166811"/>
              <a:gd name="connsiteX1" fmla="*/ 4622800 w 4622800"/>
              <a:gd name="connsiteY1" fmla="*/ 0 h 1166811"/>
              <a:gd name="connsiteX2" fmla="*/ 4622800 w 4622800"/>
              <a:gd name="connsiteY2" fmla="*/ 1166811 h 1166811"/>
              <a:gd name="connsiteX3" fmla="*/ 0 w 4622800"/>
              <a:gd name="connsiteY3" fmla="*/ 1166811 h 1166811"/>
              <a:gd name="connsiteX4" fmla="*/ 0 w 4622800"/>
              <a:gd name="connsiteY4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931862 h 1166811"/>
              <a:gd name="connsiteX5" fmla="*/ 6350 w 4629150"/>
              <a:gd name="connsiteY5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341312 h 1166811"/>
              <a:gd name="connsiteX5" fmla="*/ 6350 w 4629150"/>
              <a:gd name="connsiteY5" fmla="*/ 0 h 1166811"/>
              <a:gd name="connsiteX0" fmla="*/ 1588 w 4624388"/>
              <a:gd name="connsiteY0" fmla="*/ 0 h 1166811"/>
              <a:gd name="connsiteX1" fmla="*/ 4624388 w 4624388"/>
              <a:gd name="connsiteY1" fmla="*/ 0 h 1166811"/>
              <a:gd name="connsiteX2" fmla="*/ 4624388 w 4624388"/>
              <a:gd name="connsiteY2" fmla="*/ 1166811 h 1166811"/>
              <a:gd name="connsiteX3" fmla="*/ 1588 w 4624388"/>
              <a:gd name="connsiteY3" fmla="*/ 1166811 h 1166811"/>
              <a:gd name="connsiteX4" fmla="*/ 0 w 4624388"/>
              <a:gd name="connsiteY4" fmla="*/ 341312 h 1166811"/>
              <a:gd name="connsiteX5" fmla="*/ 1588 w 4624388"/>
              <a:gd name="connsiteY5" fmla="*/ 0 h 1166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24388" h="1166811">
                <a:moveTo>
                  <a:pt x="1588" y="0"/>
                </a:moveTo>
                <a:lnTo>
                  <a:pt x="4624388" y="0"/>
                </a:lnTo>
                <a:lnTo>
                  <a:pt x="4624388" y="1166811"/>
                </a:lnTo>
                <a:lnTo>
                  <a:pt x="1588" y="1166811"/>
                </a:lnTo>
                <a:cubicBezTo>
                  <a:pt x="-529" y="891645"/>
                  <a:pt x="2117" y="616478"/>
                  <a:pt x="0" y="341312"/>
                </a:cubicBezTo>
                <a:cubicBezTo>
                  <a:pt x="2117" y="30691"/>
                  <a:pt x="-529" y="310621"/>
                  <a:pt x="15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Entschlüsselung mittels</a:t>
            </a:r>
          </a:p>
          <a:p>
            <a:pPr algn="ctr"/>
            <a:r>
              <a:rPr lang="de-DE" dirty="0"/>
              <a:t>AES256-GCM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6F2827B-8297-F0EA-FD45-9B886500F5DF}"/>
              </a:ext>
            </a:extLst>
          </p:cNvPr>
          <p:cNvSpPr/>
          <p:nvPr/>
        </p:nvSpPr>
        <p:spPr>
          <a:xfrm>
            <a:off x="1200150" y="2501900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94389CE-32AA-1628-DD75-6BBFF8EED003}"/>
              </a:ext>
            </a:extLst>
          </p:cNvPr>
          <p:cNvSpPr/>
          <p:nvPr/>
        </p:nvSpPr>
        <p:spPr>
          <a:xfrm>
            <a:off x="1200150" y="3061494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D833B69-5A20-83B1-0C6C-825B7D7D965B}"/>
              </a:ext>
            </a:extLst>
          </p:cNvPr>
          <p:cNvSpPr/>
          <p:nvPr/>
        </p:nvSpPr>
        <p:spPr>
          <a:xfrm>
            <a:off x="1200150" y="3618706"/>
            <a:ext cx="1803400" cy="290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30D50A-D22C-1AA8-6759-71B9D20CED97}"/>
              </a:ext>
            </a:extLst>
          </p:cNvPr>
          <p:cNvSpPr/>
          <p:nvPr/>
        </p:nvSpPr>
        <p:spPr>
          <a:xfrm>
            <a:off x="7239000" y="200390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Master</a:t>
            </a:r>
          </a:p>
          <a:p>
            <a:pPr algn="ctr"/>
            <a:r>
              <a:rPr lang="de-DE" dirty="0"/>
              <a:t>Passwort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FE069DD-118B-E4B3-33C9-A6604BC498FD}"/>
              </a:ext>
            </a:extLst>
          </p:cNvPr>
          <p:cNvSpPr/>
          <p:nvPr/>
        </p:nvSpPr>
        <p:spPr>
          <a:xfrm>
            <a:off x="5791200" y="3066257"/>
            <a:ext cx="3206750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Key Ableitung mittels</a:t>
            </a:r>
          </a:p>
          <a:p>
            <a:pPr algn="ctr"/>
            <a:r>
              <a:rPr lang="de-DE" dirty="0"/>
              <a:t>PBKDF2-HMAC-SHA256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DD0C6F4-E1A8-691E-1482-CE5626E2AA1A}"/>
              </a:ext>
            </a:extLst>
          </p:cNvPr>
          <p:cNvSpPr/>
          <p:nvPr/>
        </p:nvSpPr>
        <p:spPr>
          <a:xfrm>
            <a:off x="9969500" y="4052888"/>
            <a:ext cx="1111250" cy="2124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Klartext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81234E06-A9F2-93EB-1CAE-E5A447A55000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003550" y="2720975"/>
            <a:ext cx="2787650" cy="681832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D44191E1-B084-398A-7949-679C634281C4}"/>
              </a:ext>
            </a:extLst>
          </p:cNvPr>
          <p:cNvCxnSpPr>
            <a:stCxn id="6" idx="3"/>
          </p:cNvCxnSpPr>
          <p:nvPr/>
        </p:nvCxnSpPr>
        <p:spPr>
          <a:xfrm>
            <a:off x="3003550" y="3280569"/>
            <a:ext cx="1368425" cy="1355724"/>
          </a:xfrm>
          <a:prstGeom prst="bentConnector3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0B22B8A4-404D-3D63-6BD2-B1B32A387D97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003550" y="4855368"/>
            <a:ext cx="1365250" cy="217885"/>
          </a:xfrm>
          <a:prstGeom prst="bentConnector3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2ADD9B0-7CD7-0A15-9DA8-5A4BC61251D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118475" y="2675413"/>
            <a:ext cx="0" cy="38608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D415F915-8103-B9D5-4BFF-3C661F683CE2}"/>
              </a:ext>
            </a:extLst>
          </p:cNvPr>
          <p:cNvCxnSpPr>
            <a:stCxn id="9" idx="2"/>
          </p:cNvCxnSpPr>
          <p:nvPr/>
        </p:nvCxnSpPr>
        <p:spPr>
          <a:xfrm>
            <a:off x="7394575" y="3739357"/>
            <a:ext cx="0" cy="3135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4442EB5E-B1C9-F03B-3C9A-C5248AB1BCAE}"/>
              </a:ext>
            </a:extLst>
          </p:cNvPr>
          <p:cNvCxnSpPr/>
          <p:nvPr/>
        </p:nvCxnSpPr>
        <p:spPr>
          <a:xfrm>
            <a:off x="8997950" y="4636293"/>
            <a:ext cx="97155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1A6FB173-7311-233C-B84E-D45721B41DCE}"/>
              </a:ext>
            </a:extLst>
          </p:cNvPr>
          <p:cNvSpPr/>
          <p:nvPr/>
        </p:nvSpPr>
        <p:spPr>
          <a:xfrm>
            <a:off x="5219700" y="199279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ECFDC101-25A0-E13E-C092-B9F02CCFBEB8}"/>
              </a:ext>
            </a:extLst>
          </p:cNvPr>
          <p:cNvCxnSpPr>
            <a:stCxn id="49" idx="1"/>
          </p:cNvCxnSpPr>
          <p:nvPr/>
        </p:nvCxnSpPr>
        <p:spPr>
          <a:xfrm flipH="1">
            <a:off x="3467100" y="2328547"/>
            <a:ext cx="1752600" cy="111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8ABF5ADD-F6A1-B199-ED18-FBABCDA7B561}"/>
              </a:ext>
            </a:extLst>
          </p:cNvPr>
          <p:cNvSpPr txBox="1"/>
          <p:nvPr/>
        </p:nvSpPr>
        <p:spPr>
          <a:xfrm>
            <a:off x="3602990" y="2010270"/>
            <a:ext cx="12964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Auswahl Datei</a:t>
            </a:r>
          </a:p>
        </p:txBody>
      </p:sp>
      <p:sp>
        <p:nvSpPr>
          <p:cNvPr id="3" name="Pfeil: nach links 2">
            <a:extLst>
              <a:ext uri="{FF2B5EF4-FFF2-40B4-BE49-F238E27FC236}">
                <a16:creationId xmlns:a16="http://schemas.microsoft.com/office/drawing/2014/main" id="{328B096A-B49E-A1E5-D4CE-E9B3F6A30548}"/>
              </a:ext>
            </a:extLst>
          </p:cNvPr>
          <p:cNvSpPr/>
          <p:nvPr/>
        </p:nvSpPr>
        <p:spPr>
          <a:xfrm rot="10800000">
            <a:off x="4541520" y="5768340"/>
            <a:ext cx="3576955" cy="759459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165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07FDD-F578-96F3-717C-B2F13D303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55A0F817-D821-373B-0FB5-9512CEE84DF7}"/>
              </a:ext>
            </a:extLst>
          </p:cNvPr>
          <p:cNvSpPr/>
          <p:nvPr/>
        </p:nvSpPr>
        <p:spPr>
          <a:xfrm>
            <a:off x="448310" y="1734710"/>
            <a:ext cx="4237990" cy="50242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Passwortmanager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3703A7-369E-1A90-7ABC-1FDCE42A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 (Server)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894043-D3EA-9303-9B47-B297F2DC5D72}"/>
              </a:ext>
            </a:extLst>
          </p:cNvPr>
          <p:cNvSpPr/>
          <p:nvPr/>
        </p:nvSpPr>
        <p:spPr>
          <a:xfrm>
            <a:off x="844550" y="2933700"/>
            <a:ext cx="2287270" cy="37655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 / BLOB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F8534E5-71D2-F6C8-77D7-696964BB819D}"/>
              </a:ext>
            </a:extLst>
          </p:cNvPr>
          <p:cNvSpPr/>
          <p:nvPr/>
        </p:nvSpPr>
        <p:spPr>
          <a:xfrm>
            <a:off x="1201762" y="3310066"/>
            <a:ext cx="1692069" cy="343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08F3FCA-539C-5F26-6BC3-B6907F9643DA}"/>
              </a:ext>
            </a:extLst>
          </p:cNvPr>
          <p:cNvSpPr/>
          <p:nvPr/>
        </p:nvSpPr>
        <p:spPr>
          <a:xfrm>
            <a:off x="1200150" y="3760805"/>
            <a:ext cx="1693682" cy="343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3A3DAAC-5BB9-26F6-1080-3F52015CE3C5}"/>
              </a:ext>
            </a:extLst>
          </p:cNvPr>
          <p:cNvSpPr/>
          <p:nvPr/>
        </p:nvSpPr>
        <p:spPr>
          <a:xfrm>
            <a:off x="1200150" y="4247388"/>
            <a:ext cx="1693682" cy="2280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20EF59F-733A-4D24-E3C7-632F07E51557}"/>
              </a:ext>
            </a:extLst>
          </p:cNvPr>
          <p:cNvCxnSpPr>
            <a:cxnSpLocks/>
          </p:cNvCxnSpPr>
          <p:nvPr/>
        </p:nvCxnSpPr>
        <p:spPr>
          <a:xfrm>
            <a:off x="4686300" y="4254166"/>
            <a:ext cx="268986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2C27403-A117-1793-4E41-CDD43497EBDC}"/>
              </a:ext>
            </a:extLst>
          </p:cNvPr>
          <p:cNvSpPr txBox="1"/>
          <p:nvPr/>
        </p:nvSpPr>
        <p:spPr>
          <a:xfrm>
            <a:off x="5583692" y="3853751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JDBC</a:t>
            </a:r>
          </a:p>
        </p:txBody>
      </p:sp>
      <p:sp>
        <p:nvSpPr>
          <p:cNvPr id="14" name="Flussdiagramm: Magnetplattenspeicher 13">
            <a:extLst>
              <a:ext uri="{FF2B5EF4-FFF2-40B4-BE49-F238E27FC236}">
                <a16:creationId xmlns:a16="http://schemas.microsoft.com/office/drawing/2014/main" id="{71EDC17B-7B70-6BCA-7F9D-07F55F7EEDDD}"/>
              </a:ext>
            </a:extLst>
          </p:cNvPr>
          <p:cNvSpPr/>
          <p:nvPr/>
        </p:nvSpPr>
        <p:spPr>
          <a:xfrm>
            <a:off x="7376160" y="2061371"/>
            <a:ext cx="3421380" cy="4583709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ADD7C2C-765C-79DA-7F9B-D779BAA6C795}"/>
              </a:ext>
            </a:extLst>
          </p:cNvPr>
          <p:cNvSpPr txBox="1"/>
          <p:nvPr/>
        </p:nvSpPr>
        <p:spPr>
          <a:xfrm>
            <a:off x="7772400" y="2355959"/>
            <a:ext cx="2362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MySQL</a:t>
            </a:r>
          </a:p>
          <a:p>
            <a:pPr algn="ctr"/>
            <a:r>
              <a:rPr lang="de-DE" sz="2800" dirty="0">
                <a:solidFill>
                  <a:schemeClr val="bg1"/>
                </a:solidFill>
              </a:rPr>
              <a:t>Datenbank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D3DA021-4323-8D2C-C58F-1BD5D3E9DDFC}"/>
              </a:ext>
            </a:extLst>
          </p:cNvPr>
          <p:cNvSpPr/>
          <p:nvPr/>
        </p:nvSpPr>
        <p:spPr>
          <a:xfrm>
            <a:off x="1209924" y="2152811"/>
            <a:ext cx="1693681" cy="636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 / </a:t>
            </a:r>
            <a:br>
              <a:rPr lang="de-DE" dirty="0"/>
            </a:br>
            <a:r>
              <a:rPr lang="de-DE" dirty="0"/>
              <a:t>accountName</a:t>
            </a:r>
          </a:p>
        </p:txBody>
      </p: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85A640F8-4D05-1792-BCE8-48BD3130FB2A}"/>
              </a:ext>
            </a:extLst>
          </p:cNvPr>
          <p:cNvCxnSpPr>
            <a:cxnSpLocks/>
            <a:stCxn id="26" idx="3"/>
            <a:endCxn id="25" idx="3"/>
          </p:cNvCxnSpPr>
          <p:nvPr/>
        </p:nvCxnSpPr>
        <p:spPr>
          <a:xfrm>
            <a:off x="2903605" y="2470866"/>
            <a:ext cx="1782695" cy="1775959"/>
          </a:xfrm>
          <a:prstGeom prst="bentConnector3">
            <a:avLst>
              <a:gd name="adj1" fmla="val 46997"/>
            </a:avLst>
          </a:prstGeom>
          <a:ln w="57150"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E0ECE4DD-FADD-B5F5-391B-973FE936E7FA}"/>
              </a:ext>
            </a:extLst>
          </p:cNvPr>
          <p:cNvCxnSpPr>
            <a:cxnSpLocks/>
            <a:endCxn id="25" idx="3"/>
          </p:cNvCxnSpPr>
          <p:nvPr/>
        </p:nvCxnSpPr>
        <p:spPr>
          <a:xfrm flipV="1">
            <a:off x="3131820" y="4246825"/>
            <a:ext cx="1554480" cy="476110"/>
          </a:xfrm>
          <a:prstGeom prst="bentConnector3">
            <a:avLst>
              <a:gd name="adj1" fmla="val 39216"/>
            </a:avLst>
          </a:prstGeom>
          <a:ln w="57150"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49" name="Grafik 48">
            <a:extLst>
              <a:ext uri="{FF2B5EF4-FFF2-40B4-BE49-F238E27FC236}">
                <a16:creationId xmlns:a16="http://schemas.microsoft.com/office/drawing/2014/main" id="{164D5E9D-96AB-9A05-469E-B17A18E03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859" y="3760805"/>
            <a:ext cx="2877773" cy="171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720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2E954-15E9-E447-34AD-12C92502B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C10906-ACDD-7AFE-8BA3-325E4297E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Probleme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FDCF3-FFA4-1EA1-D381-2110A1905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Implementierung von Buttons (Bearbeiten, Kopieren, Anzeigen) in eine </a:t>
            </a:r>
            <a:r>
              <a:rPr lang="de-DE" dirty="0" err="1"/>
              <a:t>JTable</a:t>
            </a:r>
            <a:endParaRPr lang="de-DE" dirty="0"/>
          </a:p>
          <a:p>
            <a:r>
              <a:rPr lang="de-DE" dirty="0"/>
              <a:t>Generell Dark Mode</a:t>
            </a:r>
          </a:p>
          <a:p>
            <a:r>
              <a:rPr lang="de-DE" dirty="0"/>
              <a:t>Aufteilung von Code in mehrere Files</a:t>
            </a:r>
          </a:p>
        </p:txBody>
      </p:sp>
    </p:spTree>
    <p:extLst>
      <p:ext uri="{BB962C8B-B14F-4D97-AF65-F5344CB8AC3E}">
        <p14:creationId xmlns:p14="http://schemas.microsoft.com/office/powerpoint/2010/main" val="3903202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77BA2B-6314-C13E-8020-90F8CA35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Lessions Learned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24FDD-F401-C7A6-98F6-6469FF9DF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Vor dem Start überlegen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2000" dirty="0"/>
              <a:t>Aufwändiger Umbau von Passwort-Speicherung in JSON-Datei als Klartext zu Binär Dateien</a:t>
            </a:r>
          </a:p>
          <a:p>
            <a:r>
              <a:rPr lang="de-DE" dirty="0"/>
              <a:t>Alles, was mehrmals verwendet wird in Funktionen packen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2000" dirty="0"/>
              <a:t>beim benutzen des Dateinamens beim speichern/laden </a:t>
            </a:r>
            <a:r>
              <a:rPr lang="de-DE" sz="2000" dirty="0">
                <a:sym typeface="Wingdings" panose="05000000000000000000" pitchFamily="2" charset="2"/>
              </a:rPr>
              <a:t> jede Funktion musste geändert werden bei der Umstellung von JSON </a:t>
            </a:r>
            <a:r>
              <a:rPr lang="de-DE" sz="2000">
                <a:sym typeface="Wingdings" panose="05000000000000000000" pitchFamily="2" charset="2"/>
              </a:rPr>
              <a:t>zu Binär</a:t>
            </a:r>
            <a:endParaRPr lang="de-DE" sz="2000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5C9BF98-93C5-432E-75D6-4F604DC2A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88" y="4081418"/>
            <a:ext cx="6582112" cy="87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51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319</Words>
  <Application>Microsoft Office PowerPoint</Application>
  <PresentationFormat>Breitbild</PresentationFormat>
  <Paragraphs>105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Wingdings</vt:lpstr>
      <vt:lpstr>Office</vt:lpstr>
      <vt:lpstr>Passwortmanager</vt:lpstr>
      <vt:lpstr>Verwendete Technologien</vt:lpstr>
      <vt:lpstr>Technischer Hintergrund</vt:lpstr>
      <vt:lpstr>Technischer Hintergrund</vt:lpstr>
      <vt:lpstr>Technischer Hintergrund</vt:lpstr>
      <vt:lpstr>Umsetzung – Masterpasswort ändern</vt:lpstr>
      <vt:lpstr>Umsetzung - Speicherung der Passwörter (Lokal)</vt:lpstr>
      <vt:lpstr>Umsetzung - Verschlüsselung</vt:lpstr>
      <vt:lpstr>Umsetzung - Entschlüsselung</vt:lpstr>
      <vt:lpstr>Umsetzung - Speicherung der Passwörter (Server)</vt:lpstr>
      <vt:lpstr>Umsetzung - Probleme</vt:lpstr>
      <vt:lpstr>Lessions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117</cp:revision>
  <dcterms:created xsi:type="dcterms:W3CDTF">2025-04-14T19:41:51Z</dcterms:created>
  <dcterms:modified xsi:type="dcterms:W3CDTF">2025-06-03T16:33:40Z</dcterms:modified>
</cp:coreProperties>
</file>